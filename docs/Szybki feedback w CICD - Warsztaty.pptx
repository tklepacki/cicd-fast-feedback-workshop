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4" r:id="rId1"/>
    <p:sldMasterId id="2147483687" r:id="rId2"/>
  </p:sldMasterIdLst>
  <p:notesMasterIdLst>
    <p:notesMasterId r:id="rId45"/>
  </p:notesMasterIdLst>
  <p:sldIdLst>
    <p:sldId id="256" r:id="rId3"/>
    <p:sldId id="257" r:id="rId4"/>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4" autoAdjust="0"/>
    <p:restoredTop sz="95033" autoAdjust="0"/>
  </p:normalViewPr>
  <p:slideViewPr>
    <p:cSldViewPr snapToGrid="0">
      <p:cViewPr varScale="1">
        <p:scale>
          <a:sx n="126" d="100"/>
          <a:sy n="126" d="100"/>
        </p:scale>
        <p:origin x="272" y="20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pl-PL" sz="4400" b="0" strike="noStrike" spc="-1">
                <a:latin typeface="Arial"/>
              </a:rPr>
              <a:t>Kliknij, aby przesunąć slajd</a:t>
            </a:r>
          </a:p>
        </p:txBody>
      </p:sp>
      <p:sp>
        <p:nvSpPr>
          <p:cNvPr id="15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pl-PL" sz="2000" b="0" strike="noStrike" spc="-1">
                <a:latin typeface="Arial"/>
              </a:rPr>
              <a:t>Kliknij, aby edytować format notatek</a:t>
            </a:r>
          </a:p>
        </p:txBody>
      </p:sp>
      <p:sp>
        <p:nvSpPr>
          <p:cNvPr id="15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pl-PL" sz="1400" b="0" strike="noStrike" spc="-1">
                <a:latin typeface="Times New Roman"/>
              </a:rPr>
              <a:t>&lt;główka&gt;</a:t>
            </a:r>
          </a:p>
        </p:txBody>
      </p:sp>
      <p:sp>
        <p:nvSpPr>
          <p:cNvPr id="159" name="PlaceHolder 4"/>
          <p:cNvSpPr>
            <a:spLocks noGrp="1"/>
          </p:cNvSpPr>
          <p:nvPr>
            <p:ph type="dt"/>
          </p:nvPr>
        </p:nvSpPr>
        <p:spPr>
          <a:xfrm>
            <a:off x="4278960" y="0"/>
            <a:ext cx="3280680" cy="534240"/>
          </a:xfrm>
          <a:prstGeom prst="rect">
            <a:avLst/>
          </a:prstGeom>
          <a:noFill/>
          <a:ln w="0">
            <a:noFill/>
          </a:ln>
        </p:spPr>
        <p:txBody>
          <a:bodyPr lIns="0" tIns="0" rIns="0" bIns="0" anchor="t">
            <a:noAutofit/>
          </a:bodyPr>
          <a:lstStyle/>
          <a:p>
            <a:pPr algn="r"/>
            <a:r>
              <a:rPr lang="pl-PL" sz="1400" b="0" strike="noStrike" spc="-1">
                <a:latin typeface="Times New Roman"/>
              </a:rPr>
              <a:t>&lt;data/godzina&gt;</a:t>
            </a:r>
          </a:p>
        </p:txBody>
      </p:sp>
      <p:sp>
        <p:nvSpPr>
          <p:cNvPr id="160" name="PlaceHolder 5"/>
          <p:cNvSpPr>
            <a:spLocks noGrp="1"/>
          </p:cNvSpPr>
          <p:nvPr>
            <p:ph type="ftr"/>
          </p:nvPr>
        </p:nvSpPr>
        <p:spPr>
          <a:xfrm>
            <a:off x="0" y="10157400"/>
            <a:ext cx="3280680" cy="534240"/>
          </a:xfrm>
          <a:prstGeom prst="rect">
            <a:avLst/>
          </a:prstGeom>
          <a:noFill/>
          <a:ln w="0">
            <a:noFill/>
          </a:ln>
        </p:spPr>
        <p:txBody>
          <a:bodyPr lIns="0" tIns="0" rIns="0" bIns="0" anchor="b">
            <a:noAutofit/>
          </a:bodyPr>
          <a:lstStyle/>
          <a:p>
            <a:r>
              <a:rPr lang="pl-PL" sz="1400" b="0" strike="noStrike" spc="-1">
                <a:latin typeface="Times New Roman"/>
              </a:rPr>
              <a:t>&lt;stopka&gt;</a:t>
            </a:r>
          </a:p>
        </p:txBody>
      </p:sp>
      <p:sp>
        <p:nvSpPr>
          <p:cNvPr id="161" name="PlaceHolder 6"/>
          <p:cNvSpPr>
            <a:spLocks noGrp="1"/>
          </p:cNvSpPr>
          <p:nvPr>
            <p:ph type="sldNum"/>
          </p:nvPr>
        </p:nvSpPr>
        <p:spPr>
          <a:xfrm>
            <a:off x="4278960" y="10157400"/>
            <a:ext cx="3280680" cy="534240"/>
          </a:xfrm>
          <a:prstGeom prst="rect">
            <a:avLst/>
          </a:prstGeom>
          <a:noFill/>
          <a:ln w="0">
            <a:noFill/>
          </a:ln>
        </p:spPr>
        <p:txBody>
          <a:bodyPr lIns="0" tIns="0" rIns="0" bIns="0" anchor="b">
            <a:noAutofit/>
          </a:bodyPr>
          <a:lstStyle/>
          <a:p>
            <a:pPr algn="r"/>
            <a:fld id="{7F0EC0CE-DA78-4825-8546-B8204CC08573}" type="slidenum">
              <a:rPr lang="pl-PL" sz="1400" b="0" strike="noStrike" spc="-1">
                <a:latin typeface="Times New Roman"/>
              </a:rPr>
              <a:t>‹#›</a:t>
            </a:fld>
            <a:endParaRPr lang="pl-PL"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noRot="1" noChangeAspect="1"/>
          </p:cNvSpPr>
          <p:nvPr>
            <p:ph type="sldImg"/>
          </p:nvPr>
        </p:nvSpPr>
        <p:spPr>
          <a:xfrm>
            <a:off x="685800" y="1143000"/>
            <a:ext cx="5486400" cy="3086100"/>
          </a:xfrm>
          <a:prstGeom prst="rect">
            <a:avLst/>
          </a:prstGeom>
          <a:ln w="0">
            <a:noFill/>
          </a:ln>
        </p:spPr>
      </p:sp>
      <p:sp>
        <p:nvSpPr>
          <p:cNvPr id="391" name="PlaceHolder 2"/>
          <p:cNvSpPr>
            <a:spLocks noGrp="1"/>
          </p:cNvSpPr>
          <p:nvPr>
            <p:ph type="body"/>
          </p:nvPr>
        </p:nvSpPr>
        <p:spPr>
          <a:xfrm>
            <a:off x="685800" y="4400640"/>
            <a:ext cx="5486040" cy="3600000"/>
          </a:xfrm>
          <a:prstGeom prst="rect">
            <a:avLst/>
          </a:prstGeom>
          <a:noFill/>
          <a:ln w="0">
            <a:noFill/>
          </a:ln>
        </p:spPr>
        <p:txBody>
          <a:bodyPr anchor="t">
            <a:noAutofit/>
          </a:bodyPr>
          <a:lstStyle/>
          <a:p>
            <a:r>
              <a:t>Cześć, witam Was serdecznie na warsztatach „Szybki feedback w CI/CD”. Dzisiaj nie będziemy uczyć się pisać testów — one już są napisane i czekają na Was w repozytorium. Będziemy budować pipeline, który te testy uruchamia tak, żeby dawał Wam odpowiedź szybko, a nie po kwadransie. To jest cały dzień przy klawiaturze: osiemnaście zadań, między nimi krótka teoria, i za każdym razem mierzymy, czy to, co zrobiliśmy, faktycznie pomogło.</a:t>
            </a:r>
          </a:p>
        </p:txBody>
      </p:sp>
      <p:sp>
        <p:nvSpPr>
          <p:cNvPr id="392" name="PlaceHolder 3"/>
          <p:cNvSpPr>
            <a:spLocks noGrp="1"/>
          </p:cNvSpPr>
          <p:nvPr>
            <p:ph type="hdr"/>
          </p:nvPr>
        </p:nvSpPr>
        <p:spPr>
          <a:xfrm>
            <a:off x="0" y="0"/>
            <a:ext cx="2971440" cy="458280"/>
          </a:xfrm>
          <a:prstGeom prst="rect">
            <a:avLst/>
          </a:prstGeom>
          <a:noFill/>
          <a:ln w="0">
            <a:noFill/>
          </a:ln>
        </p:spPr>
        <p:txBody>
          <a:bodyPr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pl-PL" sz="2400" b="0" i="0" u="none" strike="noStrike" kern="1200" cap="none" spc="-1" normalizeH="0" baseline="0" noProof="0">
              <a:ln>
                <a:noFill/>
              </a:ln>
              <a:solidFill>
                <a:prstClr val="black"/>
              </a:solidFill>
              <a:effectLst/>
              <a:uLnTx/>
              <a:uFillTx/>
              <a:latin typeface="Times New Roman"/>
              <a:ea typeface="DejaVu Sans"/>
              <a:cs typeface="DejaVu Sans"/>
            </a:endParaRPr>
          </a:p>
        </p:txBody>
      </p:sp>
      <p:sp>
        <p:nvSpPr>
          <p:cNvPr id="393" name="PlaceHolder 4"/>
          <p:cNvSpPr>
            <a:spLocks noGrp="1"/>
          </p:cNvSpPr>
          <p:nvPr>
            <p:ph type="sldNum"/>
          </p:nvPr>
        </p:nvSpPr>
        <p:spPr>
          <a:xfrm>
            <a:off x="3884760" y="8685360"/>
            <a:ext cx="2971440" cy="458280"/>
          </a:xfrm>
          <a:prstGeom prst="rect">
            <a:avLst/>
          </a:prstGeom>
          <a:noFill/>
          <a:ln w="0">
            <a:noFill/>
          </a:ln>
        </p:spPr>
        <p:txBody>
          <a:bodyPr anchor="b">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24E0E8-8556-4276-9D63-FE04B978F732}" type="slidenum">
              <a:rPr kumimoji="0" lang="pl-PL" sz="1200" b="0" i="0" u="none" strike="noStrike" kern="1200" cap="none" spc="-1" normalizeH="0" baseline="0" noProof="0">
                <a:ln>
                  <a:noFill/>
                </a:ln>
                <a:solidFill>
                  <a:srgbClr val="000000"/>
                </a:solidFill>
                <a:effectLst/>
                <a:uLnTx/>
                <a:uFillTx/>
                <a:latin typeface="Arial"/>
                <a:ea typeface="DejaVu Sans"/>
                <a:cs typeface="DejaVu San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l-PL" sz="1200" b="0" i="0" u="none" strike="noStrike" kern="1200" cap="none" spc="-1" normalizeH="0" baseline="0" noProof="0">
              <a:ln>
                <a:noFill/>
              </a:ln>
              <a:solidFill>
                <a:prstClr val="black"/>
              </a:solidFill>
              <a:effectLst/>
              <a:uLnTx/>
              <a:uFillTx/>
              <a:latin typeface="Times New Roman"/>
              <a:ea typeface="DejaVu Sans"/>
              <a:cs typeface="DejaVu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noRot="1" noChangeAspect="1"/>
          </p:cNvSpPr>
          <p:nvPr>
            <p:ph type="sldImg"/>
          </p:nvPr>
        </p:nvSpPr>
        <p:spPr>
          <a:xfrm>
            <a:off x="687388" y="1143000"/>
            <a:ext cx="5480050" cy="3082925"/>
          </a:xfrm>
          <a:prstGeom prst="rect">
            <a:avLst/>
          </a:prstGeom>
          <a:ln w="0">
            <a:noFill/>
          </a:ln>
        </p:spPr>
      </p:sp>
      <p:sp>
        <p:nvSpPr>
          <p:cNvPr id="268" name="PlaceHolder 2"/>
          <p:cNvSpPr>
            <a:spLocks noGrp="1"/>
          </p:cNvSpPr>
          <p:nvPr>
            <p:ph type="body"/>
          </p:nvPr>
        </p:nvSpPr>
        <p:spPr>
          <a:xfrm>
            <a:off x="685800" y="4400640"/>
            <a:ext cx="5482440" cy="3596400"/>
          </a:xfrm>
          <a:prstGeom prst="rect">
            <a:avLst/>
          </a:prstGeom>
          <a:noFill/>
          <a:ln w="0">
            <a:noFill/>
          </a:ln>
        </p:spPr>
        <p:txBody>
          <a:bodyPr lIns="0" tIns="0" rIns="0" bIns="0" anchor="t">
            <a:noAutofit/>
          </a:bodyPr>
          <a:lstStyle/>
          <a:p>
            <a:r>
              <a:t>Nim zaczniemy, dosłownie kilka słów o mnie. Testowaniem oprogramowania zajmuję się od kilkunastu lat, obecnie jako Test Lead i Test Automation Engineer. Prowadzę szkolenia, piszę na blogu automatyzacja.it i współtworzę podcast Testers Unplugged. Na co dzień mierzę się dokładnie z tym, o czym dziś mówimy — z pipeline'ami, które rosną, zwalniają i przestają dawać zespołowi użyteczną informację.</a:t>
            </a:r>
          </a:p>
        </p:txBody>
      </p:sp>
      <p:sp>
        <p:nvSpPr>
          <p:cNvPr id="269" name="PlaceHolder 3"/>
          <p:cNvSpPr>
            <a:spLocks noGrp="1"/>
          </p:cNvSpPr>
          <p:nvPr>
            <p:ph type="hdr"/>
          </p:nvPr>
        </p:nvSpPr>
        <p:spPr>
          <a:xfrm>
            <a:off x="0" y="0"/>
            <a:ext cx="2967840" cy="454680"/>
          </a:xfrm>
          <a:prstGeom prst="rect">
            <a:avLst/>
          </a:prstGeom>
          <a:noFill/>
          <a:ln w="0">
            <a:noFill/>
          </a:ln>
        </p:spPr>
        <p:txBody>
          <a:bodyPr lIns="0" tIns="0" rIns="0" bIns="0" anchor="t">
            <a:noAutofit/>
          </a:bodyPr>
          <a:lstStyle/>
          <a:p>
            <a:endParaRPr lang="pl-PL" sz="2400" b="0" strike="noStrike" spc="-1">
              <a:latin typeface="Times New Roman"/>
            </a:endParaRPr>
          </a:p>
        </p:txBody>
      </p:sp>
      <p:sp>
        <p:nvSpPr>
          <p:cNvPr id="270" name="PlaceHolder 4"/>
          <p:cNvSpPr>
            <a:spLocks noGrp="1"/>
          </p:cNvSpPr>
          <p:nvPr>
            <p:ph type="sldNum"/>
          </p:nvPr>
        </p:nvSpPr>
        <p:spPr>
          <a:xfrm>
            <a:off x="3884760" y="8685360"/>
            <a:ext cx="2967840" cy="454680"/>
          </a:xfrm>
          <a:prstGeom prst="rect">
            <a:avLst/>
          </a:prstGeom>
          <a:noFill/>
          <a:ln w="0">
            <a:noFill/>
          </a:ln>
        </p:spPr>
        <p:txBody>
          <a:bodyPr lIns="0" tIns="0" rIns="0" bIns="0" anchor="b">
            <a:noAutofit/>
          </a:bodyPr>
          <a:lstStyle/>
          <a:p>
            <a:pPr algn="r">
              <a:lnSpc>
                <a:spcPct val="100000"/>
              </a:lnSpc>
            </a:pPr>
            <a:fld id="{25140185-6275-41E9-AAC5-EDAFB4EE7CFD}" type="slidenum">
              <a:rPr lang="pl-PL" sz="1200" b="0" strike="noStrike" spc="-1">
                <a:solidFill>
                  <a:srgbClr val="000000"/>
                </a:solidFill>
                <a:latin typeface="+mn-lt"/>
                <a:ea typeface="+mn-ea"/>
              </a:rPr>
              <a:t>2</a:t>
            </a:fld>
            <a:endParaRPr lang="pl-PL" sz="1200" b="0" strike="noStrike" spc="-1">
              <a:latin typeface="Times New Roman"/>
            </a:endParaRP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Spójrzmy pokrótce na agendę. Zaczniemy od podstaw — czym jest ciągła integracja i dostarczanie, i co z tego wynika dla nas jako testerów. Potem od razu siadamy do kodu: pierwsze zadanie to pomiar, bo bez liczby wyjściowej nie da się później powiedzieć, czy cokolwiek pomogło. Dalej idziemy krok po kroku: najpierw porządkujemy to, co mamy, potem dokładamy rzeczy, których brakuje.</a:t>
            </a:r>
          </a:p>
        </p:txBody>
      </p:sp>
      <p:sp>
        <p:nvSpPr>
          <p:cNvPr id="4" name="Slide Number Placeholder 3"/>
          <p:cNvSpPr>
            <a:spLocks noGrp="1"/>
          </p:cNvSpPr>
          <p:nvPr>
            <p:ph type="sldNum"/>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Druga połowa dnia to skala i raportowanie. Nauczymy się uruchamiać drogie testy selektywnie, rozkładać je na wiele maszyn i — co równie ważne — czytelnie raportować wynik. Osobny blok poświęcimy flakom, bo to najczęstszy powód, dla którego zespoły przestają ufać własnym testom. Na koniec porównamy stan wyjściowy z tym, co zbudujecie, na Waszych własnych pomiarach.</a:t>
            </a:r>
          </a:p>
        </p:txBody>
      </p:sp>
      <p:sp>
        <p:nvSpPr>
          <p:cNvPr id="4" name="Slide Number Placeholder 3"/>
          <p:cNvSpPr>
            <a:spLocks noGrp="1"/>
          </p:cNvSpPr>
          <p:nvPr>
            <p:ph type="sldNum"/>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Zacznijmy od uporządkowania trzech pojęć, które bardzo często są mylone. Continuous Integration to praktyka częstego łączenia kodu i automatycznego sprawdzania, czy nadal wszystko działa. Continuous Delivery idzie dalej: oprogramowanie jest w każdej chwili gotowe do wdrożenia, ale ktoś musi podjąć decyzję. Continuous Deployment usuwa tę decyzję — każda zmiana, która przeszła pipeline, trafia na produkcję automatycznie. Zwróćcie uwagę, że różnica między Delivery a Deployment to nie technologia, tylko to, czy ufacie swoim testom na tyle, żeby oddać im ostatnią decyzję.</a:t>
            </a:r>
          </a:p>
        </p:txBody>
      </p:sp>
      <p:sp>
        <p:nvSpPr>
          <p:cNvPr id="4" name="Slide Number Placeholder 3"/>
          <p:cNvSpPr>
            <a:spLocks noGrp="1"/>
          </p:cNvSpPr>
          <p:nvPr>
            <p:ph type="sldNum"/>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 teraz najważniejsze pytanie tego wstępu: gdzie w tym wszystkim jesteśmy my? Bardzo często CI/CD traktuje się jako temat devopsowy — ktoś ustawił, działa, nie dotykamy. Tymczasem to, czego pipeline dowodzi, jest decyzją testerską. Zielony pipeline nie znaczy „kod jest dobry”. Znaczy dokładnie tyle, ile ten pipeline sprawdza. Za chwilę zobaczycie repozytorium, w którym branch z zepsutym lintem i branch z zahardkodowanym tokenem płatniczym świecą na zielono. Nie dlatego, że coś jest zepsute — tylko dlatego, że nikt tych kontroli nie dodał.</a:t>
            </a:r>
          </a:p>
        </p:txBody>
      </p:sp>
      <p:sp>
        <p:nvSpPr>
          <p:cNvPr id="4" name="Slide Number Placeholder 3"/>
          <p:cNvSpPr>
            <a:spLocks noGrp="1"/>
          </p:cNvSpPr>
          <p:nvPr>
            <p:ph type="sldNum"/>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Kiedy mówimy, że pipeline trwa cztery minuty, to brzmi niegroźnie. Ale te cztery minuty nie są czterema minutami czekania — są momentem, w którym wychodzicie z zadania. Powrót do kontekstu, z którego się wyszło, kosztuje znacznie więcej niż sam czas przebiegu. Dlatego naszą metryką przez cały dzień nie będzie „ile trwa pipeline”, tylko „jak szybko dowiaduję się, że coś jest nie tak”. To są dwie różne liczby i zaraz zobaczycie, jak bardzo potrafią się rozjechać.</a:t>
            </a:r>
          </a:p>
        </p:txBody>
      </p:sp>
      <p:sp>
        <p:nvSpPr>
          <p:cNvPr id="4" name="Slide Number Placeholder 3"/>
          <p:cNvSpPr>
            <a:spLocks noGrp="1"/>
          </p:cNvSpPr>
          <p:nvPr>
            <p:ph type="sldNum"/>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Piramidę testów znacie. Chcę ją jednak pokazać w innym świetle niż zwykle — nie jako proporcje liczby testów, tylko jako koszt uzyskania informacji. Test jednostkowy odpowiada w milisekundach. Test UI potrzebuje przeglądarki, zbudowanej aplikacji i działającego serwera. Skoro tak, to kolejność w pipelinie powinna odpowiadać kosztowi: najpierw to, co tanie. W repozytorium, które zaraz otworzycie, jest dokładnie odwrotnie — i to nie jest przypadek, tylko celowo przygotowany punkt wyjścia.</a:t>
            </a:r>
          </a:p>
        </p:txBody>
      </p:sp>
      <p:sp>
        <p:nvSpPr>
          <p:cNvPr id="4" name="Slide Number Placeholder 3"/>
          <p:cNvSpPr>
            <a:spLocks noGrp="1"/>
          </p:cNvSpPr>
          <p:nvPr>
            <p:ph type="sldNum"/>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Zanim dotkniemy YAML-a, pięć pojęć, które będą wracać przez cały dzień. Event to zdarzenie uruchamiające — push, pull request, harmonogram. Workflow to plik, który opisuje, co ma się stać. Job to zestaw kroków — i to jest najważniejsze do zapamiętania: każdy job dostaje własną, czystą maszynę. Step to pojedyncze polecenie. Runner to maszyna. Fakt, że joby są osobnymi maszynami, będzie miał dziś konsekwencje, których na początku nie widać — między innymi taką, że joby nie widzą nawzajem swoich plików.</a:t>
            </a:r>
          </a:p>
        </p:txBody>
      </p:sp>
      <p:sp>
        <p:nvSpPr>
          <p:cNvPr id="4" name="Slide Number Placeholder 3"/>
          <p:cNvSpPr>
            <a:spLocks noGrp="1"/>
          </p:cNvSpPr>
          <p:nvPr>
            <p:ph type="sldNum"/>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Ostatnia rzecz przed pierwszym zadaniem: warunki, w jakich dziś pracujemy. Wszyscy jesteśmy na darmowych kontach, więc mamy dwadzieścia równoległych jobów — i uwaga, ten limit liczy się dla całego konta, nie dla repozytorium. Repozytorium musi być publiczne, bo wtedy minuty są darmowe, a runner dostaje cztery rdzenie zamiast dwóch. To drugie okaże się dziś istotne. Aplikacja testowa startuje na tym samym runnerze co testy — ale jest tak napisana, że jedna zmienna środowiskowa przełącza cały zestaw na dowolne inne środowisko.</a:t>
            </a:r>
          </a:p>
        </p:txBody>
      </p:sp>
      <p:sp>
        <p:nvSpPr>
          <p:cNvPr id="4" name="Slide Number Placeholder 3"/>
          <p:cNvSpPr>
            <a:spLocks noGrp="1"/>
          </p:cNvSpPr>
          <p:nvPr>
            <p:ph type="sldNum"/>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Zanim cokolwiek zoptymalizujecie, musicie wiedzieć, ile to teraz trwa — i gdzie dokładnie ucieka czas. Zwróćcie uwagę, że sama suma nic nie mówi. „Cztery minuty” nie podpowiada, co poprawić. Dopiero rozkład na kroki pokazuje, że jeden krok to sześćdziesiąt procent czasu, a inny trwa sekundę i jest na samym końcu. Szukamy więc dwóch rzeczy naraz: co trwa najdłużej i co jest uruchamiane za późno. I jeszcze jedno o metryce: dobra metryka jest niewygodna. Jeśli wybierzecie taką, która zawsze wygląda dobrze, to nie jest metryka, tylko dekoracja.</a:t>
            </a:r>
          </a:p>
        </p:txBody>
      </p:sp>
      <p:sp>
        <p:nvSpPr>
          <p:cNvPr id="4" name="Slide Number Placeholder 3"/>
          <p:cNvSpPr>
            <a:spLocks noGrp="1"/>
          </p:cNvSpPr>
          <p:nvPr>
            <p:ph type="sldNum"/>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jest zadanie na jakieś dwadzieścia pięć minut, z czego większość to czekanie na przebiegi — wykorzystajcie ten czas na przeczytanie ci.yml linijka po linijce. Najważniejszy jest punkt czwarty: dwa branche, które mają nie przejść. Nie zdradzam, co się stanie — chcę, żebyście to zobaczyli sami i sami się zdziwili. Najczęstszy błąd: ludzie mierzą tylko całkowity czas i idą dalej. Bez rozbicia na kroki reszta dnia nie będzie miała punktu odniesienia. Jeśli ktoś utknie — git checkout solution/zadanie-01, tam jest wypełniony baseline.</a:t>
            </a:r>
          </a:p>
        </p:txBody>
      </p:sp>
      <p:sp>
        <p:nvSpPr>
          <p:cNvPr id="4" name="Slide Number Placeholder 3"/>
          <p:cNvSpPr>
            <a:spLocks noGrp="1"/>
          </p:cNvSpPr>
          <p:nvPr>
            <p:ph type="sldNum"/>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Zmierzyliście, ile trwa jeden przebieg. Teraz pytanie: ile przebiegów w ogóle potrzebujecie? Domyślnie każdy push na każdą gałąź uruchamia wszystko. Wyobraźcie sobie, że poprawiacie literówkę i pushujecie trzy razy w ciągu minuty. Startują trzy pełne pipeline'y, z których dwa pierwsze opisują kod, którego już nie ma. A pamiętacie limit dwudziestu jobów na konto? Właśnie zaczęliście kolejkować sami sobie.</a:t>
            </a:r>
          </a:p>
        </p:txBody>
      </p:sp>
      <p:sp>
        <p:nvSpPr>
          <p:cNvPr id="4" name="Slide Number Placeholder 3"/>
          <p:cNvSpPr>
            <a:spLocks noGrp="1"/>
          </p:cNvSpPr>
          <p:nvPr>
            <p:ph type="sldNum"/>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Krótkie zadanie, jakieś piętnaście minut. Kluczowy jest punkt trzeci — nie wierzcie, że działa, tylko to zobaczcie w zakładce Actions. Najczęstszy błąd: ludzie zostawiają push bez ograniczenia do main i dodają pull_request. Efekt jest taki, że push na gałąź z otwartym PR-em uruchamia pipeline dwa razy — płacicie podwójnie za tę samą informację. Pytanie na koniec zostawcie sobie na dyskusję: gdzie anulowanie przebiegu byłoby groźne?</a:t>
            </a:r>
          </a:p>
        </p:txBody>
      </p:sp>
      <p:sp>
        <p:nvSpPr>
          <p:cNvPr id="4" name="Slide Number Placeholder 3"/>
          <p:cNvSpPr>
            <a:spLocks noGrp="1"/>
          </p:cNvSpPr>
          <p:nvPr>
            <p:ph type="sldNum"/>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 teraz wracamy do tego, co zmierzyliście. Testy jednostkowe trwają sekundę i są uruchamiane ostatnie. To znaczy, że czekacie prawie cztery minuty na informację, którą można było mieć po sekundzie. Zasada jest prosta: najtańsza kontrola, która potrafi ubić przebieg, powinna iść pierwsza. Druga rzecz to cache — i tu uwaga, bo intuicja myli. Zanim coś zacache'ujecie, sprawdźcie, co naprawdę kosztuje. Nie mówię, co wyjdzie; zmierzycie to sami za chwilę. I trzecia rzecz, najpoważniejsza: w tym pipelinie w ogóle nie ma lintu ani typechecku. To już nie jest kwestia szybkości — pipeline po prostu nie sprawdza tych rzeczy.</a:t>
            </a:r>
          </a:p>
        </p:txBody>
      </p:sp>
      <p:sp>
        <p:nvSpPr>
          <p:cNvPr id="4" name="Slide Number Placeholder 3"/>
          <p:cNvSpPr>
            <a:spLocks noGrp="1"/>
          </p:cNvSpPr>
          <p:nvPr>
            <p:ph type="sldNum"/>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Najważniejsze zadanie w całym dniu i najdłuższe — liczcie trzydzieści minut. Zwróćcie uwagę, że cache przeglądarek to osobny cache, w innej lokalizacji i z własnym kluczem. Najczęstszy błąd, i naprawdę kosztowny: klucz bez wersji Playwrighta. Działa idealnie, aż do pierwszego podbicia zależności — wtedy dostajecie z cache stare przeglądarki i testy padają w sposób, którego nie da się powiązać ze zmianą. Drugi częsty błąd: zapomniane zależności systemowe przy trafieniu w cache. Branch ratunkowy: solution/zadanie-03.</a:t>
            </a:r>
          </a:p>
        </p:txBody>
      </p:sp>
      <p:sp>
        <p:nvSpPr>
          <p:cNvPr id="4" name="Slide Number Placeholder 3"/>
          <p:cNvSpPr>
            <a:spLocks noGrp="1"/>
          </p:cNvSpPr>
          <p:nvPr>
            <p:ph type="sldNum"/>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Macie już rozsądną kolejność, ale wszystko nadal wykonuje się po kolei w jednym jobie. Lint nie potrzebuje wyniku typechecku, a jednak na niego czeka. Jest jeszcze drugi powód rozbicia, mniej oczywisty niż szybkość: rozdzielenie sygnałów. Jeden job o nazwie „test” mówi Wam tylko tyle, że coś padło. Pięć osobnych jobów mówi, co dokładnie — widzicie to na liście kontroli przy pull requeście, bez wchodzenia w logi. I od razu uprzedzam o koszcie: suma zużytych minut wzrośnie, bo każdy job to osobna maszyna z własnym narzutem. Czas oczekiwania spadnie. To jest ten kompromis.</a:t>
            </a:r>
          </a:p>
        </p:txBody>
      </p:sp>
      <p:sp>
        <p:nvSpPr>
          <p:cNvPr id="4" name="Slide Number Placeholder 3"/>
          <p:cNvSpPr>
            <a:spLocks noGrp="1"/>
          </p:cNvSpPr>
          <p:nvPr>
            <p:ph type="sldNum"/>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Około dwudziestu pięciu minut. Przy needs zadajcie sobie za każdym razem pytanie: czy ten job naprawdę potrzebuje wyniku tamtego, czy tylko wydaje mi się, że tak jest porządniej? Najczęstszy błąd to nadmiarowe needs — na przykład uzależnianie testów od lintu. Brzmi rozsądnie, „po co testować kod, który nie przechodzi lintu”, ale w praktyce wydłuża drogę do wyniku testów, nie zapobiegając niczemu, bo i tak zablokuje to bramka scalania. Po tym zadaniu zauważycie, że ten sam setup powtarza się w pięciu miejscach. Tak, to problem. Wrócimy do niego, ale dopiero w ZADANIU 17 — chcę, żebyście najpierw poczuli, jak bardzo przeszkadza.</a:t>
            </a:r>
          </a:p>
        </p:txBody>
      </p:sp>
      <p:sp>
        <p:nvSpPr>
          <p:cNvPr id="4" name="Slide Number Placeholder 3"/>
          <p:cNvSpPr>
            <a:spLocks noGrp="1"/>
          </p:cNvSpPr>
          <p:nvPr>
            <p:ph type="sldNum"/>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Tu jest pułapka, na którą wpada prawie każdy przy pierwszym rozbiciu na joby. needs mówi „poprzedni job się udał”, ale nie przekazuje ani jednego pliku. Job test-ui nie widzi katalogu dist zbudowanego w jobie build. W efekcie aplikacja jest budowana trzy razy, a job build nie robi nic użytecznego — sprawdza tylko, czy kod się kompiluje, i wyrzuca wynik do kosza. Jest jeszcze druga, poważniejsza rzecz: build w naszym repo jest ukryty wewnątrz konfiguracji Playwrighta. Błąd kompilacji objawia się więc jako błąd testu i szukacie go w złym miejscu.</a:t>
            </a:r>
          </a:p>
        </p:txBody>
      </p:sp>
      <p:sp>
        <p:nvSpPr>
          <p:cNvPr id="4" name="Slide Number Placeholder 3"/>
          <p:cNvSpPr>
            <a:spLocks noGrp="1"/>
          </p:cNvSpPr>
          <p:nvPr>
            <p:ph type="sldNum"/>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pięć minut. Punkt czwarty jest najciekawszy — zepsujcie kompilację celowo, wystarczy jedna linijka z błędnym typem, i zobaczcie, że pipeline pada teraz w jobie build, a joby testowe w ogóle nie startują. To jest prawdziwy fail-fast. Uwaga praktyczna: po wyjęciu builda z webServer lokalne uruchomienie testów przestanie działać na czystym repo, bo nie ma czego uruchomić. Trzeba to opisać w README albo dodać skrypt. I zapamiętajcie ten wzorzec: job buduje artefakt, job testowy go pobiera i uruchamia. To jest dokładnie to samo, co „wdróż na środowisko i przetestuj” — różni się tylko adresem.</a:t>
            </a:r>
          </a:p>
        </p:txBody>
      </p:sp>
      <p:sp>
        <p:nvSpPr>
          <p:cNvPr id="4" name="Slide Number Placeholder 3"/>
          <p:cNvSpPr>
            <a:spLocks noGrp="1"/>
          </p:cNvSpPr>
          <p:nvPr>
            <p:ph type="sldNum"/>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Wracamy do tego, co zobaczyliście w pierwszym zadaniu. Branch z zahardkodowanym tokenem płatniczym przeszedł bez słowa. Nie dlatego, że coś zawiodło — po prostu nikt nie dodał takiej kontroli. Rozdzielmy dwie rzeczy, bo bywają mylone. npm audit sprawdza znane podatności w zależnościach. gitleaks szuka sekretów w Waszym własnym kodzie — i co ważne, przeszukuje historię, bo sekret usunięty w ostatnim commicie nadal jest sekretem ujawnionym. I pytanie, na które nie ma jednej odpowiedzi: blokować merge czy tylko ostrzegać? Zależy od tego, ile kosztuje pomyłka w każdą stronę.</a:t>
            </a:r>
          </a:p>
        </p:txBody>
      </p:sp>
      <p:sp>
        <p:nvSpPr>
          <p:cNvPr id="4" name="Slide Number Placeholder 3"/>
          <p:cNvSpPr>
            <a:spLocks noGrp="1"/>
          </p:cNvSpPr>
          <p:nvPr>
            <p:ph type="sldNum"/>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minut. Zwróćcie uwagę na dwie flagi w rozwiązaniu. Pierwsza to --redact: bez niej narzędzie, które wykrywa wycieki sekretów, wypisałoby ten sekret do logów, które w repozytorium publicznym może przeczytać każdy. Druga to ograniczenie skanu do bieżącej gałęzi — i to jest błąd, na który sam wpadłem, przygotowując ten warsztat. Domyślnie gitleaks skanuje wszystkie gałęzie, więc sekret z brancha demo wywalał skan na każdym innym branchu. Zobaczycie to w treści zadania jako pułapkę.</a:t>
            </a:r>
          </a:p>
        </p:txBody>
      </p:sp>
      <p:sp>
        <p:nvSpPr>
          <p:cNvPr id="4" name="Slide Number Placeholder 3"/>
          <p:cNvSpPr>
            <a:spLocks noGrp="1"/>
          </p:cNvSpPr>
          <p:nvPr>
            <p:ph type="sldNum"/>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Ten blok jest krótki, ale wprowadza sposób myślenia, który przydaje się daleko poza CI. Nasza aplikacja wystawia swój kontrakt jako OpenAPI — możecie go zobaczyć pod /api/docs. Wyobraźcie sobie, że ktoś zmienia nazwę pola w odpowiedzi. Dziś dowiecie się o tym dopiero wtedy, gdy padną testy UI konsumenta tego API — kilkanaście minut później i w zupełnie innym miejscu niż przyczyna. Porównanie dwóch wersji specyfikacji kosztuje kilkanaście sekund i wskazuje przyczynę wprost.</a:t>
            </a:r>
          </a:p>
        </p:txBody>
      </p:sp>
      <p:sp>
        <p:nvSpPr>
          <p:cNvPr id="4" name="Slide Number Placeholder 3"/>
          <p:cNvSpPr>
            <a:spLocks noGrp="1"/>
          </p:cNvSpPr>
          <p:nvPr>
            <p:ph type="sldNum"/>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minut. Zwróćcie uwagę, dlaczego spec da się zapisać bez uruchamiania aplikacji — gdyby trzeba było ją podnieść, ten check przestałby być tani, a cała jego wartość polega na tym, że kosztuje kilkanaście sekund i biegnie równolegle z lintem. Pytanie na dyskusję jest realne: czasem zmiana łamiąca jest świadoma i konieczna. Jak ją przepuścić, nie wyłączając całej kontroli? To ten sam problem, co przy bezpieczeństwie.</a:t>
            </a:r>
          </a:p>
        </p:txBody>
      </p:sp>
      <p:sp>
        <p:nvSpPr>
          <p:cNvPr id="4" name="Slide Number Placeholder 3"/>
          <p:cNvSpPr>
            <a:spLocks noGrp="1"/>
          </p:cNvSpPr>
          <p:nvPr>
            <p:ph type="sldNum"/>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Teraz decyzja, która wymaga wiedzy testerskiej, a nie znajomości GitHub Actions. Które testy uruchamiać na pull requeście? Pull request zadaje jedno pytanie: czy coś oczywistego się zepsuło. Smoke to nie jest po prostu „szybkie testy” — to jest ścieżka, bez której produkt nie ma sensu. U nas jest ich pięć i przechodzą całą drogę klienta: od katalogu do złożonego zamówienia. Pełna regresja idzie na main, bo tam jej wynik bramkuje wydanie, a nie czyjeś review. I trzeci tryb, o którym często się zapomina: nocny przebieg dla rzeczy, które nie muszą być znane natychmiast.</a:t>
            </a:r>
          </a:p>
        </p:txBody>
      </p:sp>
      <p:sp>
        <p:nvSpPr>
          <p:cNvPr id="4" name="Slide Number Placeholder 3"/>
          <p:cNvSpPr>
            <a:spLocks noGrp="1"/>
          </p:cNvSpPr>
          <p:nvPr>
            <p:ph type="sldNum"/>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pięć minut. Ciekawostka, o której warto wiedzieć: cron u nas zadziała, bo Wasze repozytorium powstało z szablonu, czyli jest zwykłym repozytorium. W forkach scheduled workflows są wyłączone — gdybyśmy poszli drogą forka, to zadanie by nie zadziałało. Efekt nocnego przebiegu zobaczycie dopiero jutro, więc dziś sprawdzamy tylko konfigurację. Mówię o tym uczciwie, bo nie chcę, żeby ktoś czekał na coś, co się dziś nie wydarzy.</a:t>
            </a:r>
          </a:p>
        </p:txBody>
      </p:sp>
      <p:sp>
        <p:nvSpPr>
          <p:cNvPr id="4" name="Slide Number Placeholder 3"/>
          <p:cNvSpPr>
            <a:spLocks noGrp="1"/>
          </p:cNvSpPr>
          <p:nvPr>
            <p:ph type="sldNum"/>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Selektywność to najbardziej ryzykowna optymalizacja w całym dniu i chcę to powiedzieć wprost. Pomysł jest oczywisty: zmiana w README nie może zepsuć testów UI, więc po co je uruchamiać. Decyzja ma dwa piętra: czy w ogóle odpalać job, i które testy w nim uruchomić. Ale uwaga na ryzyko: filtr, który przepuści zmianę zdolną coś zepsuć, jest gorszy niż brak filtru, bo daje fałszywe poczucie bezpieczeństwa. U nas katalog src/shared jest używany i przez serwer, i przez frontend — dlatego pojawia się w obu filtrach.</a:t>
            </a:r>
          </a:p>
        </p:txBody>
      </p:sp>
      <p:sp>
        <p:nvSpPr>
          <p:cNvPr id="4" name="Slide Number Placeholder 3"/>
          <p:cNvSpPr>
            <a:spLocks noGrp="1"/>
          </p:cNvSpPr>
          <p:nvPr>
            <p:ph type="sldNum"/>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minut. Dwie pułapki, obie bolesne. Pierwsza: --only-changed porównuje z historią gita, a domyślny płytki klon jej nie ma. Bez fetch-depth zero polecenie cicho nie znajduje nic i wszystko wygląda na zielone. Druga jest jeszcze gorsza i wrócimy do niej w ostatnim zadaniu: job pominięty to nie jest job udany. Jeśli ustawicie pominięty job jako wymaganą kontrolę, zablokujecie sobie wszystkie pull requesty, które go nie dotyczą.</a:t>
            </a:r>
          </a:p>
        </p:txBody>
      </p:sp>
      <p:sp>
        <p:nvSpPr>
          <p:cNvPr id="4" name="Slide Number Placeholder 3"/>
          <p:cNvSpPr>
            <a:spLocks noGrp="1"/>
          </p:cNvSpPr>
          <p:nvPr>
            <p:ph type="sldNum"/>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jest blok, w którym najczęściej dochodzi do nieporozumienia, bo dwie różne rzeczy nazywa się tak samo — równoległością. Oś pionowa to więcej procesów na jednej maszynie; ogranicza ją liczba rdzeni, a repozytorium publiczne daje cztery. Oś pozioma to więcej maszyn; ogranicza ją limit dwudziestu jobów na konto. Kluczowa różnica jest kosztowa: oś pionowa jest za darmo, bo płacicie za maszynę tak czy inaczej. Oś pozioma mnoży zużycie minut. I teraz rzecz, którą chcę, żebyście sprawdzili sami: w konfiguracji generowanej przez Playwrighta jest linijka ustawiająca jednego workera na CI. Jest kopiowana do tysięcy projektów i prawie nigdy nierewidowana. Nie mówię, co z tego wyjdzie — zmierzcie.</a:t>
            </a:r>
          </a:p>
        </p:txBody>
      </p:sp>
      <p:sp>
        <p:nvSpPr>
          <p:cNvPr id="4" name="Slide Number Placeholder 3"/>
          <p:cNvSpPr>
            <a:spLocks noGrp="1"/>
          </p:cNvSpPr>
          <p:nvPr>
            <p:ph type="sldNum"/>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Trzydzieści minut i to jest zadanie, w którym najwięcej czasu zajmuje czekanie na pomiary. Kolejność jest istotna: najpierw sama zmiana liczby workerów, dopiero potem shardy. Chcę, żebyście zobaczyli te dwie liczby osobno. Nie zdradzam wyniku — powiem tylko, że jedna z tych zmian jest darmowa, a druga nie, i że to nie jest ta, której się spodziewacie. Pułapka techniczna: przy czterech shardach nazwy artefaktów muszą być unikalne, inaczej job padnie na uploadzie, a nie na teście, i przez chwilę nie będziecie wiedzieć dlaczego.</a:t>
            </a:r>
          </a:p>
        </p:txBody>
      </p:sp>
      <p:sp>
        <p:nvSpPr>
          <p:cNvPr id="4" name="Slide Number Placeholder 3"/>
          <p:cNvSpPr>
            <a:spLocks noGrp="1"/>
          </p:cNvSpPr>
          <p:nvPr>
            <p:ph type="sldNum"/>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Shardowanie jest najczęstszym zastosowaniem matrixa, ale matrix to po prostu generator jobów. Może rozpinać się po wersjach środowiska, po konfiguracjach, po czymkolwiek. Rzecz, o której warto pamiętać: matrix mnoży, a nie dodaje. Dwa wymiary po cztery wartości to szesnaście maszyn, nie osiem. Przy limicie dwudziestu jobów na konto łatwo o tę granicę zawadzić. I konkretny problem, który zaraz rozwiążecie: na pull requeście uruchamiacie pięć testów smoke rozdzielonych na cztery maszyny. Każda z nich spędza więcej czasu na starcie niż na testowaniu.</a:t>
            </a:r>
          </a:p>
        </p:txBody>
      </p:sp>
      <p:sp>
        <p:nvSpPr>
          <p:cNvPr id="4" name="Slide Number Placeholder 3"/>
          <p:cNvSpPr>
            <a:spLocks noGrp="1"/>
          </p:cNvSpPr>
          <p:nvPr>
            <p:ph type="sldNum"/>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minut. Najważniejsza pułapka i chcę ją podkreślić, bo jest podstępna: jeśli zmienicie listę shardów, a zapomnicie zmienić mianownik w --shard, dostaniecie najgorszy możliwy wynik — pipeline świeci na zielono, a część testów w ogóle się nie uruchomiła. Nic nie pada, więc nikt tego nie zauważa. To jest ten rodzaj błędu, który potrafi żyć w projekcie miesiącami.</a:t>
            </a:r>
          </a:p>
        </p:txBody>
      </p:sp>
      <p:sp>
        <p:nvSpPr>
          <p:cNvPr id="4" name="Slide Number Placeholder 3"/>
          <p:cNvSpPr>
            <a:spLocks noGrp="1"/>
          </p:cNvSpPr>
          <p:nvPr>
            <p:ph type="sldNum"/>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To jest blok, który realizuje drugą połowę tytułu warsztatu — „bez utraty jakości”. Flak to test, który przy niezmienionym kodzie raz przechodzi, a raz nie. Przyczyn jest kilka i większość znacie: czas, wyścig, współdzielony stan, zależność od kolejności. Ale jest jeszcze jedna, o której mówi się najrzadziej, a która jest najbardziej frustrująca: dryf środowiska. ubuntu-latest to etykieta, którą GitHub przesuwa. Gdy runner przechodzi na nowszy system i zmienia się renderowanie czcionek, pipeline czerwieni się bez żadnego commita do obwinienia. I żaden retry tego nie naprawi, bo problem nie jest w teście. Powiem też jasno o retry: on niczego nie naprawia. Kupuje czas na diagnozę, ale wydłuża najgorszy przypadek i ukrywa problem.</a:t>
            </a:r>
          </a:p>
        </p:txBody>
      </p:sp>
      <p:sp>
        <p:nvSpPr>
          <p:cNvPr id="4" name="Slide Number Placeholder 3"/>
          <p:cNvSpPr>
            <a:spLocks noGrp="1"/>
          </p:cNvSpPr>
          <p:nvPr>
            <p:ph type="sldNum"/>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Trzydzieści minut. Kwarantanna to wzorzec, nie obejście — alternatywą jest albo trwale czerwony pipeline, którego wszyscy uczą się ignorować, albo skasowany test, czyli cicha utrata pokrycia. Ale ma jeden warunek: limit czasu przebywania w kwarantannie, inaczej robi się śmietnik. Przy kontenerze zwróćcie uwagę na uzasadnienie. Nie chodzi o szybkość — chodzi o to, że przypięty tag zamraża komplet: przeglądarkę, system, czcionki i biblioteki. Te same bajty dziś i za pół roku. To jest wolniejsze od rozgrzanego cache i o to właśnie chodzi: oddajecie kilkanaście sekund za determinizm.</a:t>
            </a:r>
          </a:p>
        </p:txBody>
      </p:sp>
      <p:sp>
        <p:nvSpPr>
          <p:cNvPr id="4" name="Slide Number Placeholder 3"/>
          <p:cNvSpPr>
            <a:spLocks noGrp="1"/>
          </p:cNvSpPr>
          <p:nvPr>
            <p:ph type="sldNum"/>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Krótki blok, ale dotyczy błędu, który widuję najczęściej w prawdziwych projektach. Rozbiliście testy na cztery maszyny — i macie cztery osobne raporty HTML. Nie da się ich sensownie połączyć, bo to są gotowe strony, a nie dane. Playwright ma na to format pośredni o nazwie blob, zaprojektowany właśnie do scalania. Zapamiętajcie: shardowanie i raportowanie zmienia się razem. Jedno bez drugiego zostawia Was z czterema raportami, z których nikt nie korzysta.</a:t>
            </a:r>
          </a:p>
        </p:txBody>
      </p:sp>
      <p:sp>
        <p:nvSpPr>
          <p:cNvPr id="4" name="Slide Number Placeholder 3"/>
          <p:cNvSpPr>
            <a:spLocks noGrp="1"/>
          </p:cNvSpPr>
          <p:nvPr>
            <p:ph type="sldNum"/>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Piętnaście minut. Zwróćcie uwagę na if: always() — bez tego job scalający nie uruchomi się po awarii shardów, czyli raport zniknie dokładnie wtedy, gdy jest potrzebny. To zdanie warto sobie powtórzyć: raport z zielonego przebiegu to ten, którego nikt nie czyta. Druga rzecz to merge-multiple. Bez tego każdy artefakt wyląduje w osobnym podkatalogu i narzędzie zobaczy cztery odrębne raporty zamiast czterech części jednego.</a:t>
            </a:r>
          </a:p>
        </p:txBody>
      </p:sp>
      <p:sp>
        <p:nvSpPr>
          <p:cNvPr id="4" name="Slide Number Placeholder 3"/>
          <p:cNvSpPr>
            <a:spLocks noGrp="1"/>
          </p:cNvSpPr>
          <p:nvPr>
            <p:ph type="sldNum"/>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Zanim dodamy raportowanie, jedno pytanie: komu ten raport ma służyć? Bo to nie jest jeden odbiorca. Programista w trakcie review chce zobaczyć annotację przy linii kodu. Tester chce listy testów z podziałem na przyczyny. Ktoś zaglądający z boku chce jednej liczby. To są trzy różne poziomy widoczności i dlatego za chwilę dodamy trzy mechanizmy naraz. Jest jeszcze rzecz techniczna, ale ważniejsza, niż się wydaje: wspólny format. Jeśli testy jednostkowe raportują inaczej niż API, a API inaczej niż UI, to nikt nie patrzy na wyniki, bo nie ma jednego miejsca, w którym można je zobaczyć razem.</a:t>
            </a:r>
          </a:p>
        </p:txBody>
      </p:sp>
      <p:sp>
        <p:nvSpPr>
          <p:cNvPr id="4" name="Slide Number Placeholder 3"/>
          <p:cNvSpPr>
            <a:spLocks noGrp="1"/>
          </p:cNvSpPr>
          <p:nvPr>
            <p:ph type="sldNum"/>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pięć minut. To jest moment, w którym permissions przestaje być higieną, a zaczyna mieć konsekwencję — bez checks: write akcja nie utworzy check runu. Warto też wiedzieć o ograniczeniu: to nie zadziała dla pull requestów z forków, bo ich token jest tylko do odczytu. U nas działa, bo pracujecie we własnych repozytoriach. I proszę, zwróćcie uwagę na if: always() przy uploadach. Bez tego artefakt z wynikami nie powstaje wtedy, gdy testy padły. Czyli zawsze wtedy, kiedy go potrzebujecie.</a:t>
            </a:r>
          </a:p>
        </p:txBody>
      </p:sp>
      <p:sp>
        <p:nvSpPr>
          <p:cNvPr id="4" name="Slide Number Placeholder 3"/>
          <p:cNvSpPr>
            <a:spLocks noGrp="1"/>
          </p:cNvSpPr>
          <p:nvPr>
            <p:ph type="sldNum"/>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 teraz rzecz, o której bardzo łatwo zapomnieć przy budowaniu pipeline'u. Cały dzień uczymy się, jak szybko dostać czerwony sygnał. Ale co z nim zrobić? Log mówi „oczekiwano sześć, otrzymano dwanaście” i tyle. Nie widzicie, co było na ekranie, jakie żądania poleciały ani co powiedziała konsola. Trace to pełne nagranie przebiegu testu. Ma jednak koszt: nagrywanie wszystkiego produkuje setki megabajtów, których nikt nigdy nie otworzy. Dlatego nagrywamy selektywnie.</a:t>
            </a:r>
          </a:p>
        </p:txBody>
      </p:sp>
      <p:sp>
        <p:nvSpPr>
          <p:cNvPr id="4" name="Slide Number Placeholder 3"/>
          <p:cNvSpPr>
            <a:spLocks noGrp="1"/>
          </p:cNvSpPr>
          <p:nvPr>
            <p:ph type="sldNum"/>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Piętnaście minut i to jest zadanie, które warto zrobić razem na ekranie, bo trace ogląda się lepiej, niż o nim opowiada. Użyjcie brancha demo/failing-ui, żebyśmy wszyscy patrzyli na ten sam błąd. Przejdźcie po osi czasu i zobaczcie snapshot DOM przed i po akcji — to jest ta rzecz, która zamienia „test padł” w „wiem dlaczego”.</a:t>
            </a:r>
          </a:p>
        </p:txBody>
      </p:sp>
      <p:sp>
        <p:nvSpPr>
          <p:cNvPr id="4" name="Slide Number Placeholder 3"/>
          <p:cNvSpPr>
            <a:spLocks noGrp="1"/>
          </p:cNvSpPr>
          <p:nvPr>
            <p:ph type="sldNum"/>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Ostatni blok techniczny i jedyny moment, w którym dotykamy sekretów. Trzy rzeczy warte zapamiętania. Po pierwsze: sekrety nie są kopiowane ani przez forka, ani przez szablon — dlatego za chwilę każdy będzie musiał wkleić je sobie sam. Po drugie: maskowanie w logach to wygoda, nie zabezpieczenie. Po trzecie i najważniejsze: token ma mieć najwęższy możliwy zakres i datę ważności. A sam storage? Artefakty GitHuba wygasają, a raport na storage'u ma adres, który można wkleić do zgłoszenia błędu.</a:t>
            </a:r>
          </a:p>
        </p:txBody>
      </p:sp>
      <p:sp>
        <p:nvSpPr>
          <p:cNvPr id="4" name="Slide Number Placeholder 3"/>
          <p:cNvSpPr>
            <a:spLocks noGrp="1"/>
          </p:cNvSpPr>
          <p:nvPr>
            <p:ph type="sldNum"/>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pięć minut, z czego pięć na wklejenie sekretów — rozdałem je w przerwie. Najważniejsza rzecz do wyniesienia z tego zadania nie dotyczy Cloudflare. Używamy zwykłego aws s3 sync, bo R2 ma API zgodne z S3. To znaczy, że przeniesienie tego do Waszego projektu na Azure Blob, S3 czy GCS to zmiana adresu i poświadczeń, a nie przepisywanie pipeline'u. Wychodzicie ze wzorcem, nie z przywiązaniem do dostawcy.</a:t>
            </a:r>
          </a:p>
        </p:txBody>
      </p:sp>
      <p:sp>
        <p:nvSpPr>
          <p:cNvPr id="4" name="Slide Number Placeholder 3"/>
          <p:cNvSpPr>
            <a:spLocks noGrp="1"/>
          </p:cNvSpPr>
          <p:nvPr>
            <p:ph type="sldNum"/>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Przedostatni blok i temat, o którym rzadko się mówi: pipeline też ma dług techniczny. Po szesnastu zadaniach ten sam czterokrokowy wstęp powtarza się w siedmiu jobach. Ale jest jeszcze ciekawsza rzecz, którą zaraz znajdziecie. Kiedy w ZADANIU 12 dodaliśmy kontener z przeglądarkami, trzy kroki instalujące te przeglądarki stały się martwe. I przez kilka kolejnych zadań nikt ich nie usunął, łącznie ze mną. Optymalizacja zostawia po sobie śmieci — to jest normalne, pod warunkiem że ktoś je w końcu sprząta.</a:t>
            </a:r>
          </a:p>
        </p:txBody>
      </p:sp>
      <p:sp>
        <p:nvSpPr>
          <p:cNvPr id="4" name="Slide Number Placeholder 3"/>
          <p:cNvSpPr>
            <a:spLocks noGrp="1"/>
          </p:cNvSpPr>
          <p:nvPr>
            <p:ph type="sldNum"/>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Dwadzieścia minut. Jedna rzecz, która potrafi zaskoczyć: akcja lokalna mieszka w repozytorium, więc repozytorium musi być już sklonowane, zanim da się ją znaleźć. Nie zwiniecie więc pierwszego kroku, tylko trzy kolejne. Jeśli komuś zabraknie czasu, to jest zadanie, które najbezpieczniej pominąć — nic od niego nie zależy, a pipeline działa bez niego tak samo.</a:t>
            </a:r>
          </a:p>
        </p:txBody>
      </p:sp>
      <p:sp>
        <p:nvSpPr>
          <p:cNvPr id="4" name="Slide Number Placeholder 3"/>
          <p:cNvSpPr>
            <a:spLocks noGrp="1"/>
          </p:cNvSpPr>
          <p:nvPr>
            <p:ph type="sldNum"/>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Ostatni blok teorii. Chcę zamknąć dzień czymś, co nie jest techniczne. Pipeline ma wartość dokładnie wtedy, gdy zespół mu ufa. Czerwony pipeline, który wszyscy nauczyli się ignorować, jest gorszy niż jego brak — bo daje złudzenie kontroli. Technicznie: ochrona gałęzi wymaga nazw kontroli, a matrix generuje nazwy, które zmieniają się razem z nim. Dlatego robimy jeden agregujący job o stałej nazwie. I rzecz, o której mówiłem przy selektywności: pominięty job musi liczyć się jako sukces, inaczej zablokujecie każdy pull request, który nie dotyka interfejsu.</a:t>
            </a:r>
          </a:p>
        </p:txBody>
      </p:sp>
      <p:sp>
        <p:nvSpPr>
          <p:cNvPr id="4" name="Slide Number Placeholder 3"/>
          <p:cNvSpPr>
            <a:spLocks noGrp="1"/>
          </p:cNvSpPr>
          <p:nvPr>
            <p:ph type="sldNum"/>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Ostatnie zadanie, dwadzieścia minut. Najdroższy błąd, jaki można tu popełnić, to ustawienie pojedynczych jobów jako wymaganych kontroli zamiast agregatu — wtedy job, który bywa pomijany, blokuje pull requesty bez możliwości odblokowania. Punkt czwarty jest najważniejszy z całego dnia: wypełnijcie tabelę własnymi liczbami. Nie moimi. Za chwilę je porównamy.</a:t>
            </a:r>
          </a:p>
        </p:txBody>
      </p:sp>
      <p:sp>
        <p:nvSpPr>
          <p:cNvPr id="4" name="Slide Number Placeholder 3"/>
          <p:cNvSpPr>
            <a:spLocks noGrp="1"/>
          </p:cNvSpPr>
          <p:nvPr>
            <p:ph type="sldNum"/>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I teraz najważniejszy slajd całego dnia. Popatrzcie na te liczby. Pipeline jest ponad dwa razy szybszy — ale to nie jest w nim najciekawsze. Najciekawsze jest to, że robi znacznie więcej niż na starcie: doszedł lint, typecheck, skan bezpieczeństwa, kontrola kontraktu API, scalanie raportów i publikacja. Czas nie spadł dlatego, że usunęliśmy pracę. Spadł dlatego, że ułożyliśmy ją równolegle i we właściwej kolejności. To jest cała teza dzisiejszego dnia i macie ją udowodnioną na własnych pomiarach.</a:t>
            </a:r>
          </a:p>
        </p:txBody>
      </p:sp>
      <p:sp>
        <p:nvSpPr>
          <p:cNvPr id="4" name="Slide Number Placeholder 3"/>
          <p:cNvSpPr>
            <a:spLocks noGrp="1"/>
          </p:cNvSpPr>
          <p:nvPr>
            <p:ph type="sldNum"/>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p:nvPr>
        </p:nvSpPr>
        <p:spPr/>
        <p:txBody>
          <a:bodyPr/>
          <a:lstStyle/>
          <a:p>
            <a:r>
              <a:t>Na koniec chcę, żebyście zrobili jedną rzecz, zanim zamkniecie laptopy. Wypiszcie sobie trzy konkretne rzeczy, które zmienicie w swoim pipelinie w poniedziałek. Nie ogólniki — konkrety ze swojego projektu. Podpowiem, od czego zacząć: zmierzcie swój baseline i sprawdźcie, czego Wasz pipeline nie sprawdza. A jeśli macie testy Playwrighta, zajrzyjcie do konfiguracji i sprawdźcie liczbę workerów na CI. Podejrzewam, że u części z Was to będzie jedynka. Repozytorium zostaje Wasze — wszystkie rozwiązania są na branchach solution. Dziękuję za dziś i zapraszam do pytań.</a:t>
            </a:r>
          </a:p>
        </p:txBody>
      </p:sp>
      <p:sp>
        <p:nvSpPr>
          <p:cNvPr id="4" name="Slide Number Placeholder 3"/>
          <p:cNvSpPr>
            <a:spLocks noGrp="1"/>
          </p:cNvSpPr>
          <p:nvPr>
            <p:ph type="sldNum"/>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82"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endParaRPr lang="pl-PL"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84"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8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pl-PL" sz="3200" b="0" strike="noStrike" spc="-1">
              <a:latin typeface="Arial"/>
            </a:endParaRPr>
          </a:p>
        </p:txBody>
      </p:sp>
      <p:sp>
        <p:nvSpPr>
          <p:cNvPr id="8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9"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pl-PL"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9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9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pl-PL" sz="3200" b="0" strike="noStrike" spc="-1">
              <a:latin typeface="Arial"/>
            </a:endParaRPr>
          </a:p>
        </p:txBody>
      </p:sp>
      <p:sp>
        <p:nvSpPr>
          <p:cNvPr id="9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9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pl-PL" sz="3200" b="0" strike="noStrike" spc="-1">
              <a:latin typeface="Arial"/>
            </a:endParaRPr>
          </a:p>
        </p:txBody>
      </p:sp>
      <p:sp>
        <p:nvSpPr>
          <p:cNvPr id="9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97"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99"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00"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01"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103"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04"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10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0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0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09"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pl-PL" sz="4400" b="0" strike="noStrike" spc="-1">
              <a:latin typeface="Arial"/>
            </a:endParaRPr>
          </a:p>
        </p:txBody>
      </p:sp>
      <p:sp>
        <p:nvSpPr>
          <p:cNvPr id="111"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12"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13"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14"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15"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pl-PL" sz="3200" b="0" strike="noStrike" spc="-1">
              <a:latin typeface="Arial"/>
            </a:endParaRPr>
          </a:p>
        </p:txBody>
      </p:sp>
      <p:sp>
        <p:nvSpPr>
          <p:cNvPr id="116"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pl-PL"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70165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5"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76" name="PlaceHolder 2"/>
          <p:cNvSpPr>
            <a:spLocks noGrp="1"/>
          </p:cNvSpPr>
          <p:nvPr>
            <p:ph type="subTitle"/>
          </p:nvPr>
        </p:nvSpPr>
        <p:spPr>
          <a:xfrm>
            <a:off x="407880" y="1592280"/>
            <a:ext cx="11198520" cy="4465440"/>
          </a:xfrm>
          <a:prstGeom prst="rect">
            <a:avLst/>
          </a:prstGeom>
          <a:noFill/>
          <a:ln w="0">
            <a:noFill/>
          </a:ln>
        </p:spPr>
        <p:txBody>
          <a:bodyPr lIns="0" tIns="0" rIns="0" bIns="0" anchor="ctr">
            <a:noAutofit/>
          </a:bodyPr>
          <a:lstStyle/>
          <a:p>
            <a:pPr algn="ctr"/>
            <a:endParaRPr lang="pl-PL" sz="3200" b="0" strike="noStrike" spc="-1">
              <a:latin typeface="Arial"/>
            </a:endParaRPr>
          </a:p>
        </p:txBody>
      </p:sp>
    </p:spTree>
    <p:extLst>
      <p:ext uri="{BB962C8B-B14F-4D97-AF65-F5344CB8AC3E}">
        <p14:creationId xmlns:p14="http://schemas.microsoft.com/office/powerpoint/2010/main" val="33674553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78" name="PlaceHolder 2"/>
          <p:cNvSpPr>
            <a:spLocks noGrp="1"/>
          </p:cNvSpPr>
          <p:nvPr>
            <p:ph/>
          </p:nvPr>
        </p:nvSpPr>
        <p:spPr>
          <a:xfrm>
            <a:off x="407880" y="1592280"/>
            <a:ext cx="11198520" cy="446544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2313787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80" name="PlaceHolder 2"/>
          <p:cNvSpPr>
            <a:spLocks noGrp="1"/>
          </p:cNvSpPr>
          <p:nvPr>
            <p:ph/>
          </p:nvPr>
        </p:nvSpPr>
        <p:spPr>
          <a:xfrm>
            <a:off x="407880" y="1592280"/>
            <a:ext cx="5464800" cy="446544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81" name="PlaceHolder 3"/>
          <p:cNvSpPr>
            <a:spLocks noGrp="1"/>
          </p:cNvSpPr>
          <p:nvPr>
            <p:ph/>
          </p:nvPr>
        </p:nvSpPr>
        <p:spPr>
          <a:xfrm>
            <a:off x="6146280" y="1592280"/>
            <a:ext cx="5464800" cy="446544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7146887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2"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Tree>
    <p:extLst>
      <p:ext uri="{BB962C8B-B14F-4D97-AF65-F5344CB8AC3E}">
        <p14:creationId xmlns:p14="http://schemas.microsoft.com/office/powerpoint/2010/main" val="105647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3" name="PlaceHolder 1"/>
          <p:cNvSpPr>
            <a:spLocks noGrp="1"/>
          </p:cNvSpPr>
          <p:nvPr>
            <p:ph type="subTitle"/>
          </p:nvPr>
        </p:nvSpPr>
        <p:spPr>
          <a:xfrm>
            <a:off x="407880" y="341280"/>
            <a:ext cx="10854720" cy="2836440"/>
          </a:xfrm>
          <a:prstGeom prst="rect">
            <a:avLst/>
          </a:prstGeom>
          <a:noFill/>
          <a:ln w="0">
            <a:noFill/>
          </a:ln>
        </p:spPr>
        <p:txBody>
          <a:bodyPr lIns="0" tIns="0" rIns="0" bIns="0" anchor="ctr">
            <a:noAutofit/>
          </a:bodyPr>
          <a:lstStyle/>
          <a:p>
            <a:pPr algn="ctr"/>
            <a:endParaRPr lang="pl-PL" sz="3200" b="0" strike="noStrike" spc="-1">
              <a:latin typeface="Arial"/>
            </a:endParaRPr>
          </a:p>
        </p:txBody>
      </p:sp>
    </p:spTree>
    <p:extLst>
      <p:ext uri="{BB962C8B-B14F-4D97-AF65-F5344CB8AC3E}">
        <p14:creationId xmlns:p14="http://schemas.microsoft.com/office/powerpoint/2010/main" val="2388323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85" name="PlaceHolder 2"/>
          <p:cNvSpPr>
            <a:spLocks noGrp="1"/>
          </p:cNvSpPr>
          <p:nvPr>
            <p:ph/>
          </p:nvPr>
        </p:nvSpPr>
        <p:spPr>
          <a:xfrm>
            <a:off x="407880" y="159228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86" name="PlaceHolder 3"/>
          <p:cNvSpPr>
            <a:spLocks noGrp="1"/>
          </p:cNvSpPr>
          <p:nvPr>
            <p:ph/>
          </p:nvPr>
        </p:nvSpPr>
        <p:spPr>
          <a:xfrm>
            <a:off x="6146280" y="1592280"/>
            <a:ext cx="5464800" cy="446544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87" name="PlaceHolder 4"/>
          <p:cNvSpPr>
            <a:spLocks noGrp="1"/>
          </p:cNvSpPr>
          <p:nvPr>
            <p:ph/>
          </p:nvPr>
        </p:nvSpPr>
        <p:spPr>
          <a:xfrm>
            <a:off x="407880" y="392472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24731151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89" name="PlaceHolder 2"/>
          <p:cNvSpPr>
            <a:spLocks noGrp="1"/>
          </p:cNvSpPr>
          <p:nvPr>
            <p:ph/>
          </p:nvPr>
        </p:nvSpPr>
        <p:spPr>
          <a:xfrm>
            <a:off x="407880" y="1592280"/>
            <a:ext cx="5464800" cy="446544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90" name="PlaceHolder 3"/>
          <p:cNvSpPr>
            <a:spLocks noGrp="1"/>
          </p:cNvSpPr>
          <p:nvPr>
            <p:ph/>
          </p:nvPr>
        </p:nvSpPr>
        <p:spPr>
          <a:xfrm>
            <a:off x="6146280" y="159228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91" name="PlaceHolder 4"/>
          <p:cNvSpPr>
            <a:spLocks noGrp="1"/>
          </p:cNvSpPr>
          <p:nvPr>
            <p:ph/>
          </p:nvPr>
        </p:nvSpPr>
        <p:spPr>
          <a:xfrm>
            <a:off x="6146280" y="392472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3960996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93" name="PlaceHolder 2"/>
          <p:cNvSpPr>
            <a:spLocks noGrp="1"/>
          </p:cNvSpPr>
          <p:nvPr>
            <p:ph/>
          </p:nvPr>
        </p:nvSpPr>
        <p:spPr>
          <a:xfrm>
            <a:off x="407880" y="159228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94" name="PlaceHolder 3"/>
          <p:cNvSpPr>
            <a:spLocks noGrp="1"/>
          </p:cNvSpPr>
          <p:nvPr>
            <p:ph/>
          </p:nvPr>
        </p:nvSpPr>
        <p:spPr>
          <a:xfrm>
            <a:off x="6146280" y="159228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95" name="PlaceHolder 4"/>
          <p:cNvSpPr>
            <a:spLocks noGrp="1"/>
          </p:cNvSpPr>
          <p:nvPr>
            <p:ph/>
          </p:nvPr>
        </p:nvSpPr>
        <p:spPr>
          <a:xfrm>
            <a:off x="407880" y="3924720"/>
            <a:ext cx="1119852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41655956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97" name="PlaceHolder 2"/>
          <p:cNvSpPr>
            <a:spLocks noGrp="1"/>
          </p:cNvSpPr>
          <p:nvPr>
            <p:ph/>
          </p:nvPr>
        </p:nvSpPr>
        <p:spPr>
          <a:xfrm>
            <a:off x="407880" y="1592280"/>
            <a:ext cx="1119852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98" name="PlaceHolder 3"/>
          <p:cNvSpPr>
            <a:spLocks noGrp="1"/>
          </p:cNvSpPr>
          <p:nvPr>
            <p:ph/>
          </p:nvPr>
        </p:nvSpPr>
        <p:spPr>
          <a:xfrm>
            <a:off x="407880" y="3924720"/>
            <a:ext cx="1119852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38320843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100" name="PlaceHolder 2"/>
          <p:cNvSpPr>
            <a:spLocks noGrp="1"/>
          </p:cNvSpPr>
          <p:nvPr>
            <p:ph/>
          </p:nvPr>
        </p:nvSpPr>
        <p:spPr>
          <a:xfrm>
            <a:off x="407880" y="159228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1" name="PlaceHolder 3"/>
          <p:cNvSpPr>
            <a:spLocks noGrp="1"/>
          </p:cNvSpPr>
          <p:nvPr>
            <p:ph/>
          </p:nvPr>
        </p:nvSpPr>
        <p:spPr>
          <a:xfrm>
            <a:off x="6146280" y="159228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2" name="PlaceHolder 4"/>
          <p:cNvSpPr>
            <a:spLocks noGrp="1"/>
          </p:cNvSpPr>
          <p:nvPr>
            <p:ph/>
          </p:nvPr>
        </p:nvSpPr>
        <p:spPr>
          <a:xfrm>
            <a:off x="407880" y="392472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3" name="PlaceHolder 5"/>
          <p:cNvSpPr>
            <a:spLocks noGrp="1"/>
          </p:cNvSpPr>
          <p:nvPr>
            <p:ph/>
          </p:nvPr>
        </p:nvSpPr>
        <p:spPr>
          <a:xfrm>
            <a:off x="6146280" y="3924720"/>
            <a:ext cx="546480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41989822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407880" y="341280"/>
            <a:ext cx="10854720" cy="611640"/>
          </a:xfrm>
          <a:prstGeom prst="rect">
            <a:avLst/>
          </a:prstGeom>
          <a:noFill/>
          <a:ln w="0">
            <a:noFill/>
          </a:ln>
        </p:spPr>
        <p:txBody>
          <a:bodyPr lIns="0" tIns="0" rIns="0" bIns="0" anchor="ctr">
            <a:noAutofit/>
          </a:bodyPr>
          <a:lstStyle/>
          <a:p>
            <a:endParaRPr lang="pl-PL" sz="1800" b="0" strike="noStrike" spc="-1">
              <a:solidFill>
                <a:srgbClr val="494949"/>
              </a:solidFill>
              <a:latin typeface="ModeratJIT"/>
            </a:endParaRPr>
          </a:p>
        </p:txBody>
      </p:sp>
      <p:sp>
        <p:nvSpPr>
          <p:cNvPr id="105" name="PlaceHolder 2"/>
          <p:cNvSpPr>
            <a:spLocks noGrp="1"/>
          </p:cNvSpPr>
          <p:nvPr>
            <p:ph/>
          </p:nvPr>
        </p:nvSpPr>
        <p:spPr>
          <a:xfrm>
            <a:off x="407880" y="1592280"/>
            <a:ext cx="360576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6" name="PlaceHolder 3"/>
          <p:cNvSpPr>
            <a:spLocks noGrp="1"/>
          </p:cNvSpPr>
          <p:nvPr>
            <p:ph/>
          </p:nvPr>
        </p:nvSpPr>
        <p:spPr>
          <a:xfrm>
            <a:off x="4194360" y="1592280"/>
            <a:ext cx="360576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7" name="PlaceHolder 4"/>
          <p:cNvSpPr>
            <a:spLocks noGrp="1"/>
          </p:cNvSpPr>
          <p:nvPr>
            <p:ph/>
          </p:nvPr>
        </p:nvSpPr>
        <p:spPr>
          <a:xfrm>
            <a:off x="7980840" y="1592280"/>
            <a:ext cx="360576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8" name="PlaceHolder 5"/>
          <p:cNvSpPr>
            <a:spLocks noGrp="1"/>
          </p:cNvSpPr>
          <p:nvPr>
            <p:ph/>
          </p:nvPr>
        </p:nvSpPr>
        <p:spPr>
          <a:xfrm>
            <a:off x="407880" y="3924720"/>
            <a:ext cx="360576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09" name="PlaceHolder 6"/>
          <p:cNvSpPr>
            <a:spLocks noGrp="1"/>
          </p:cNvSpPr>
          <p:nvPr>
            <p:ph/>
          </p:nvPr>
        </p:nvSpPr>
        <p:spPr>
          <a:xfrm>
            <a:off x="4194360" y="3924720"/>
            <a:ext cx="360576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
        <p:nvSpPr>
          <p:cNvPr id="110" name="PlaceHolder 7"/>
          <p:cNvSpPr>
            <a:spLocks noGrp="1"/>
          </p:cNvSpPr>
          <p:nvPr>
            <p:ph/>
          </p:nvPr>
        </p:nvSpPr>
        <p:spPr>
          <a:xfrm>
            <a:off x="7980840" y="3924720"/>
            <a:ext cx="3605760" cy="2129760"/>
          </a:xfrm>
          <a:prstGeom prst="rect">
            <a:avLst/>
          </a:prstGeom>
          <a:noFill/>
          <a:ln w="0">
            <a:noFill/>
          </a:ln>
        </p:spPr>
        <p:txBody>
          <a:bodyPr lIns="0" tIns="0" rIns="0" bIns="0" anchor="t">
            <a:normAutofit/>
          </a:bodyPr>
          <a:lstStyle/>
          <a:p>
            <a:endParaRPr lang="pl-PL" sz="1600" b="0" strike="noStrike" spc="-1">
              <a:solidFill>
                <a:srgbClr val="7C7C7C"/>
              </a:solidFill>
              <a:latin typeface="Moderat JIT"/>
            </a:endParaRPr>
          </a:p>
        </p:txBody>
      </p:sp>
    </p:spTree>
    <p:extLst>
      <p:ext uri="{BB962C8B-B14F-4D97-AF65-F5344CB8AC3E}">
        <p14:creationId xmlns:p14="http://schemas.microsoft.com/office/powerpoint/2010/main" val="34407523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2.png"/><Relationship Id="rId15"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8" name="Grafika 3"/>
          <p:cNvPicPr/>
          <p:nvPr/>
        </p:nvPicPr>
        <p:blipFill>
          <a:blip r:embed="rId14"/>
          <a:stretch/>
        </p:blipFill>
        <p:spPr>
          <a:xfrm>
            <a:off x="407880" y="6352560"/>
            <a:ext cx="836280" cy="442080"/>
          </a:xfrm>
          <a:prstGeom prst="rect">
            <a:avLst/>
          </a:prstGeom>
          <a:ln w="0">
            <a:noFill/>
          </a:ln>
        </p:spPr>
      </p:pic>
      <p:sp>
        <p:nvSpPr>
          <p:cNvPr id="7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r>
              <a:rPr lang="pl-PL" sz="4400" b="0" strike="noStrike" spc="-1">
                <a:latin typeface="Arial"/>
              </a:rPr>
              <a:t>Kliknij, aby edytować format tekstu tytułu</a:t>
            </a:r>
          </a:p>
        </p:txBody>
      </p:sp>
      <p:sp>
        <p:nvSpPr>
          <p:cNvPr id="80"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pl-PL" sz="3200" b="0" strike="noStrike" spc="-1">
                <a:latin typeface="Arial"/>
              </a:rPr>
              <a:t>Kliknij, aby edytować format tekstu konspektu</a:t>
            </a:r>
          </a:p>
          <a:p>
            <a:pPr marL="864000" lvl="1" indent="-324000">
              <a:spcBef>
                <a:spcPts val="1134"/>
              </a:spcBef>
              <a:buClr>
                <a:srgbClr val="000000"/>
              </a:buClr>
              <a:buSzPct val="75000"/>
              <a:buFont typeface="Symbol" charset="2"/>
              <a:buChar char=""/>
            </a:pPr>
            <a:r>
              <a:rPr lang="pl-PL" sz="2800" b="0" strike="noStrike" spc="-1">
                <a:latin typeface="Arial"/>
              </a:rPr>
              <a:t>Drugi poziom konspektu</a:t>
            </a:r>
          </a:p>
          <a:p>
            <a:pPr marL="1296000" lvl="2" indent="-288000">
              <a:spcBef>
                <a:spcPts val="850"/>
              </a:spcBef>
              <a:buClr>
                <a:srgbClr val="000000"/>
              </a:buClr>
              <a:buSzPct val="45000"/>
              <a:buFont typeface="Wingdings" charset="2"/>
              <a:buChar char=""/>
            </a:pPr>
            <a:r>
              <a:rPr lang="pl-PL" sz="2400" b="0" strike="noStrike" spc="-1">
                <a:latin typeface="Arial"/>
              </a:rPr>
              <a:t>Trzeci poziom konspektu</a:t>
            </a:r>
          </a:p>
          <a:p>
            <a:pPr marL="1728000" lvl="3" indent="-216000">
              <a:spcBef>
                <a:spcPts val="567"/>
              </a:spcBef>
              <a:buClr>
                <a:srgbClr val="000000"/>
              </a:buClr>
              <a:buSzPct val="75000"/>
              <a:buFont typeface="Symbol" charset="2"/>
              <a:buChar char=""/>
            </a:pPr>
            <a:r>
              <a:rPr lang="pl-PL" sz="2000" b="0" strike="noStrike" spc="-1">
                <a:latin typeface="Arial"/>
              </a:rPr>
              <a:t>Czwarty poziom konspektu</a:t>
            </a:r>
          </a:p>
          <a:p>
            <a:pPr marL="2160000" lvl="4" indent="-216000">
              <a:spcBef>
                <a:spcPts val="283"/>
              </a:spcBef>
              <a:buClr>
                <a:srgbClr val="000000"/>
              </a:buClr>
              <a:buSzPct val="45000"/>
              <a:buFont typeface="Wingdings" charset="2"/>
              <a:buChar char=""/>
            </a:pPr>
            <a:r>
              <a:rPr lang="pl-PL" sz="2000" b="0" strike="noStrike" spc="-1">
                <a:latin typeface="Arial"/>
              </a:rPr>
              <a:t>Piąty poziom konspektu</a:t>
            </a:r>
          </a:p>
          <a:p>
            <a:pPr marL="2592000" lvl="5" indent="-216000">
              <a:spcBef>
                <a:spcPts val="283"/>
              </a:spcBef>
              <a:buClr>
                <a:srgbClr val="000000"/>
              </a:buClr>
              <a:buSzPct val="45000"/>
              <a:buFont typeface="Wingdings" charset="2"/>
              <a:buChar char=""/>
            </a:pPr>
            <a:r>
              <a:rPr lang="pl-PL" sz="2000" b="0" strike="noStrike" spc="-1">
                <a:latin typeface="Arial"/>
              </a:rPr>
              <a:t>Szósty poziom konspektu</a:t>
            </a:r>
          </a:p>
          <a:p>
            <a:pPr marL="3024000" lvl="6" indent="-216000">
              <a:spcBef>
                <a:spcPts val="283"/>
              </a:spcBef>
              <a:buClr>
                <a:srgbClr val="000000"/>
              </a:buClr>
              <a:buSzPct val="45000"/>
              <a:buFont typeface="Wingdings" charset="2"/>
              <a:buChar char=""/>
            </a:pPr>
            <a:r>
              <a:rPr lang="pl-PL" sz="2000" b="0" strike="noStrike" spc="-1">
                <a:latin typeface="Arial"/>
              </a:rPr>
              <a:t>Siódmy poziom konspektu</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5" name="Grafika 3"/>
          <p:cNvPicPr/>
          <p:nvPr/>
        </p:nvPicPr>
        <p:blipFill>
          <a:blip r:embed="rId14"/>
          <a:stretch/>
        </p:blipFill>
        <p:spPr>
          <a:xfrm>
            <a:off x="407880" y="6352560"/>
            <a:ext cx="837360" cy="443160"/>
          </a:xfrm>
          <a:prstGeom prst="rect">
            <a:avLst/>
          </a:prstGeom>
          <a:ln w="0">
            <a:noFill/>
          </a:ln>
        </p:spPr>
      </p:pic>
      <p:sp>
        <p:nvSpPr>
          <p:cNvPr id="76" name="Prostokąt 87"/>
          <p:cNvSpPr/>
          <p:nvPr/>
        </p:nvSpPr>
        <p:spPr>
          <a:xfrm rot="16200000">
            <a:off x="4521960" y="-2960280"/>
            <a:ext cx="4725720" cy="1061388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p:style>
      </p:sp>
      <p:sp>
        <p:nvSpPr>
          <p:cNvPr id="2" name="Prostokąt 6"/>
          <p:cNvSpPr/>
          <p:nvPr/>
        </p:nvSpPr>
        <p:spPr>
          <a:xfrm>
            <a:off x="0" y="-16920"/>
            <a:ext cx="1577520" cy="472284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p:style>
      </p:sp>
      <p:sp>
        <p:nvSpPr>
          <p:cNvPr id="3" name="Prostokąt 12"/>
          <p:cNvSpPr/>
          <p:nvPr/>
        </p:nvSpPr>
        <p:spPr>
          <a:xfrm rot="16200000">
            <a:off x="5808960" y="475200"/>
            <a:ext cx="2151360" cy="1061388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p:style>
      </p:sp>
      <p:sp>
        <p:nvSpPr>
          <p:cNvPr id="4" name="Prostokąt 13"/>
          <p:cNvSpPr/>
          <p:nvPr/>
        </p:nvSpPr>
        <p:spPr>
          <a:xfrm>
            <a:off x="0" y="4706280"/>
            <a:ext cx="1577520" cy="21513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sp>
        <p:nvSpPr>
          <p:cNvPr id="5" name="Owal 7"/>
          <p:cNvSpPr/>
          <p:nvPr/>
        </p:nvSpPr>
        <p:spPr>
          <a:xfrm>
            <a:off x="249444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 name="Owal 16"/>
          <p:cNvSpPr/>
          <p:nvPr/>
        </p:nvSpPr>
        <p:spPr>
          <a:xfrm>
            <a:off x="249444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7" name="Owal 17"/>
          <p:cNvSpPr/>
          <p:nvPr/>
        </p:nvSpPr>
        <p:spPr>
          <a:xfrm>
            <a:off x="249444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8" name="Owal 20"/>
          <p:cNvSpPr/>
          <p:nvPr/>
        </p:nvSpPr>
        <p:spPr>
          <a:xfrm>
            <a:off x="249444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9" name="Owal 21"/>
          <p:cNvSpPr/>
          <p:nvPr/>
        </p:nvSpPr>
        <p:spPr>
          <a:xfrm>
            <a:off x="317772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0" name="Owal 22"/>
          <p:cNvSpPr/>
          <p:nvPr/>
        </p:nvSpPr>
        <p:spPr>
          <a:xfrm>
            <a:off x="317772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1" name="Owal 23"/>
          <p:cNvSpPr/>
          <p:nvPr/>
        </p:nvSpPr>
        <p:spPr>
          <a:xfrm>
            <a:off x="317772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2" name="Owal 24"/>
          <p:cNvSpPr/>
          <p:nvPr/>
        </p:nvSpPr>
        <p:spPr>
          <a:xfrm>
            <a:off x="317772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3" name="Owal 25"/>
          <p:cNvSpPr/>
          <p:nvPr/>
        </p:nvSpPr>
        <p:spPr>
          <a:xfrm>
            <a:off x="386100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4" name="Owal 27"/>
          <p:cNvSpPr/>
          <p:nvPr/>
        </p:nvSpPr>
        <p:spPr>
          <a:xfrm>
            <a:off x="386100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5" name="Owal 29"/>
          <p:cNvSpPr/>
          <p:nvPr/>
        </p:nvSpPr>
        <p:spPr>
          <a:xfrm>
            <a:off x="386100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6" name="Owal 32"/>
          <p:cNvSpPr/>
          <p:nvPr/>
        </p:nvSpPr>
        <p:spPr>
          <a:xfrm>
            <a:off x="386100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7" name="Owal 33"/>
          <p:cNvSpPr/>
          <p:nvPr/>
        </p:nvSpPr>
        <p:spPr>
          <a:xfrm>
            <a:off x="454392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8" name="Owal 34"/>
          <p:cNvSpPr/>
          <p:nvPr/>
        </p:nvSpPr>
        <p:spPr>
          <a:xfrm>
            <a:off x="454392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19" name="Owal 35"/>
          <p:cNvSpPr/>
          <p:nvPr/>
        </p:nvSpPr>
        <p:spPr>
          <a:xfrm>
            <a:off x="454392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0" name="Owal 36"/>
          <p:cNvSpPr/>
          <p:nvPr/>
        </p:nvSpPr>
        <p:spPr>
          <a:xfrm>
            <a:off x="454392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1" name="Owal 37"/>
          <p:cNvSpPr/>
          <p:nvPr/>
        </p:nvSpPr>
        <p:spPr>
          <a:xfrm>
            <a:off x="522360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2" name="Owal 38"/>
          <p:cNvSpPr/>
          <p:nvPr/>
        </p:nvSpPr>
        <p:spPr>
          <a:xfrm>
            <a:off x="522360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3" name="Owal 39"/>
          <p:cNvSpPr/>
          <p:nvPr/>
        </p:nvSpPr>
        <p:spPr>
          <a:xfrm>
            <a:off x="522360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4" name="Owal 40"/>
          <p:cNvSpPr/>
          <p:nvPr/>
        </p:nvSpPr>
        <p:spPr>
          <a:xfrm>
            <a:off x="522360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5" name="Owal 41"/>
          <p:cNvSpPr/>
          <p:nvPr/>
        </p:nvSpPr>
        <p:spPr>
          <a:xfrm>
            <a:off x="590688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6" name="Owal 42"/>
          <p:cNvSpPr/>
          <p:nvPr/>
        </p:nvSpPr>
        <p:spPr>
          <a:xfrm>
            <a:off x="590688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7" name="Owal 43"/>
          <p:cNvSpPr/>
          <p:nvPr/>
        </p:nvSpPr>
        <p:spPr>
          <a:xfrm>
            <a:off x="590688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8" name="Owal 44"/>
          <p:cNvSpPr/>
          <p:nvPr/>
        </p:nvSpPr>
        <p:spPr>
          <a:xfrm>
            <a:off x="590688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29" name="Owal 45"/>
          <p:cNvSpPr/>
          <p:nvPr/>
        </p:nvSpPr>
        <p:spPr>
          <a:xfrm>
            <a:off x="659016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0" name="Owal 46"/>
          <p:cNvSpPr/>
          <p:nvPr/>
        </p:nvSpPr>
        <p:spPr>
          <a:xfrm>
            <a:off x="659016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1" name="Owal 47"/>
          <p:cNvSpPr/>
          <p:nvPr/>
        </p:nvSpPr>
        <p:spPr>
          <a:xfrm>
            <a:off x="659016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2" name="Owal 48"/>
          <p:cNvSpPr/>
          <p:nvPr/>
        </p:nvSpPr>
        <p:spPr>
          <a:xfrm>
            <a:off x="659016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3" name="Owal 49"/>
          <p:cNvSpPr/>
          <p:nvPr/>
        </p:nvSpPr>
        <p:spPr>
          <a:xfrm>
            <a:off x="727308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4" name="Owal 50"/>
          <p:cNvSpPr/>
          <p:nvPr/>
        </p:nvSpPr>
        <p:spPr>
          <a:xfrm>
            <a:off x="727308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5" name="Owal 51"/>
          <p:cNvSpPr/>
          <p:nvPr/>
        </p:nvSpPr>
        <p:spPr>
          <a:xfrm>
            <a:off x="727308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6" name="Owal 52"/>
          <p:cNvSpPr/>
          <p:nvPr/>
        </p:nvSpPr>
        <p:spPr>
          <a:xfrm>
            <a:off x="727308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7" name="Owal 53"/>
          <p:cNvSpPr/>
          <p:nvPr/>
        </p:nvSpPr>
        <p:spPr>
          <a:xfrm>
            <a:off x="795636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8" name="Owal 54"/>
          <p:cNvSpPr/>
          <p:nvPr/>
        </p:nvSpPr>
        <p:spPr>
          <a:xfrm>
            <a:off x="795636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39" name="Owal 55"/>
          <p:cNvSpPr/>
          <p:nvPr/>
        </p:nvSpPr>
        <p:spPr>
          <a:xfrm>
            <a:off x="795636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0" name="Owal 56"/>
          <p:cNvSpPr/>
          <p:nvPr/>
        </p:nvSpPr>
        <p:spPr>
          <a:xfrm>
            <a:off x="795636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1" name="Owal 57"/>
          <p:cNvSpPr/>
          <p:nvPr/>
        </p:nvSpPr>
        <p:spPr>
          <a:xfrm>
            <a:off x="863964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2" name="Owal 58"/>
          <p:cNvSpPr/>
          <p:nvPr/>
        </p:nvSpPr>
        <p:spPr>
          <a:xfrm>
            <a:off x="863964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3" name="Owal 59"/>
          <p:cNvSpPr/>
          <p:nvPr/>
        </p:nvSpPr>
        <p:spPr>
          <a:xfrm>
            <a:off x="863964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4" name="Owal 60"/>
          <p:cNvSpPr/>
          <p:nvPr/>
        </p:nvSpPr>
        <p:spPr>
          <a:xfrm>
            <a:off x="863964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5" name="Owal 61"/>
          <p:cNvSpPr/>
          <p:nvPr/>
        </p:nvSpPr>
        <p:spPr>
          <a:xfrm>
            <a:off x="932256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6" name="Owal 62"/>
          <p:cNvSpPr/>
          <p:nvPr/>
        </p:nvSpPr>
        <p:spPr>
          <a:xfrm>
            <a:off x="932256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7" name="Owal 63"/>
          <p:cNvSpPr/>
          <p:nvPr/>
        </p:nvSpPr>
        <p:spPr>
          <a:xfrm>
            <a:off x="932256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8" name="Owal 64"/>
          <p:cNvSpPr/>
          <p:nvPr/>
        </p:nvSpPr>
        <p:spPr>
          <a:xfrm>
            <a:off x="932256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49" name="Owal 65"/>
          <p:cNvSpPr/>
          <p:nvPr/>
        </p:nvSpPr>
        <p:spPr>
          <a:xfrm>
            <a:off x="1000584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0" name="Owal 66"/>
          <p:cNvSpPr/>
          <p:nvPr/>
        </p:nvSpPr>
        <p:spPr>
          <a:xfrm>
            <a:off x="1000584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1" name="Owal 67"/>
          <p:cNvSpPr/>
          <p:nvPr/>
        </p:nvSpPr>
        <p:spPr>
          <a:xfrm>
            <a:off x="1000584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2" name="Owal 68"/>
          <p:cNvSpPr/>
          <p:nvPr/>
        </p:nvSpPr>
        <p:spPr>
          <a:xfrm>
            <a:off x="1000584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3" name="Owal 69"/>
          <p:cNvSpPr/>
          <p:nvPr/>
        </p:nvSpPr>
        <p:spPr>
          <a:xfrm>
            <a:off x="1068912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4" name="Owal 70"/>
          <p:cNvSpPr/>
          <p:nvPr/>
        </p:nvSpPr>
        <p:spPr>
          <a:xfrm>
            <a:off x="1068912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5" name="Owal 71"/>
          <p:cNvSpPr/>
          <p:nvPr/>
        </p:nvSpPr>
        <p:spPr>
          <a:xfrm>
            <a:off x="1068912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6" name="Owal 72"/>
          <p:cNvSpPr/>
          <p:nvPr/>
        </p:nvSpPr>
        <p:spPr>
          <a:xfrm>
            <a:off x="1068912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7" name="Owal 73"/>
          <p:cNvSpPr/>
          <p:nvPr/>
        </p:nvSpPr>
        <p:spPr>
          <a:xfrm>
            <a:off x="11372400" y="69372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8" name="Owal 74"/>
          <p:cNvSpPr/>
          <p:nvPr/>
        </p:nvSpPr>
        <p:spPr>
          <a:xfrm>
            <a:off x="11372400" y="149328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59" name="Owal 75"/>
          <p:cNvSpPr/>
          <p:nvPr/>
        </p:nvSpPr>
        <p:spPr>
          <a:xfrm>
            <a:off x="11372400" y="229284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0" name="Owal 76"/>
          <p:cNvSpPr/>
          <p:nvPr/>
        </p:nvSpPr>
        <p:spPr>
          <a:xfrm>
            <a:off x="11372400" y="30924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1" name="Owal 77"/>
          <p:cNvSpPr/>
          <p:nvPr/>
        </p:nvSpPr>
        <p:spPr>
          <a:xfrm>
            <a:off x="522360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2" name="Owal 78"/>
          <p:cNvSpPr/>
          <p:nvPr/>
        </p:nvSpPr>
        <p:spPr>
          <a:xfrm>
            <a:off x="590688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3" name="Owal 79"/>
          <p:cNvSpPr/>
          <p:nvPr/>
        </p:nvSpPr>
        <p:spPr>
          <a:xfrm>
            <a:off x="659016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4" name="Owal 80"/>
          <p:cNvSpPr/>
          <p:nvPr/>
        </p:nvSpPr>
        <p:spPr>
          <a:xfrm>
            <a:off x="727308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5" name="Owal 81"/>
          <p:cNvSpPr/>
          <p:nvPr/>
        </p:nvSpPr>
        <p:spPr>
          <a:xfrm>
            <a:off x="795636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6" name="Owal 82"/>
          <p:cNvSpPr/>
          <p:nvPr/>
        </p:nvSpPr>
        <p:spPr>
          <a:xfrm>
            <a:off x="863964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7" name="Owal 83"/>
          <p:cNvSpPr/>
          <p:nvPr/>
        </p:nvSpPr>
        <p:spPr>
          <a:xfrm>
            <a:off x="932256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8" name="Owal 84"/>
          <p:cNvSpPr/>
          <p:nvPr/>
        </p:nvSpPr>
        <p:spPr>
          <a:xfrm>
            <a:off x="1000584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69" name="Owal 85"/>
          <p:cNvSpPr/>
          <p:nvPr/>
        </p:nvSpPr>
        <p:spPr>
          <a:xfrm>
            <a:off x="1068912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sp>
        <p:nvSpPr>
          <p:cNvPr id="70" name="Owal 86"/>
          <p:cNvSpPr/>
          <p:nvPr/>
        </p:nvSpPr>
        <p:spPr>
          <a:xfrm>
            <a:off x="11372400" y="3906000"/>
            <a:ext cx="122040" cy="122040"/>
          </a:xfrm>
          <a:prstGeom prst="ellipse">
            <a:avLst/>
          </a:prstGeom>
          <a:noFill/>
          <a:ln w="38100">
            <a:solidFill>
              <a:srgbClr val="7C7C7C"/>
            </a:solidFill>
          </a:ln>
        </p:spPr>
        <p:style>
          <a:lnRef idx="2">
            <a:schemeClr val="accent1">
              <a:shade val="50000"/>
            </a:schemeClr>
          </a:lnRef>
          <a:fillRef idx="1">
            <a:schemeClr val="accent1"/>
          </a:fillRef>
          <a:effectRef idx="0">
            <a:schemeClr val="accent1"/>
          </a:effectRef>
          <a:fontRef idx="minor"/>
        </p:style>
      </p:sp>
      <p:pic>
        <p:nvPicPr>
          <p:cNvPr id="71" name="Grafika 9"/>
          <p:cNvPicPr/>
          <p:nvPr/>
        </p:nvPicPr>
        <p:blipFill>
          <a:blip r:embed="rId15"/>
          <a:stretch/>
        </p:blipFill>
        <p:spPr>
          <a:xfrm>
            <a:off x="2181240" y="3457440"/>
            <a:ext cx="3014640" cy="1019520"/>
          </a:xfrm>
          <a:prstGeom prst="rect">
            <a:avLst/>
          </a:prstGeom>
          <a:ln w="0">
            <a:noFill/>
          </a:ln>
        </p:spPr>
      </p:pic>
      <p:sp>
        <p:nvSpPr>
          <p:cNvPr id="72" name="PlaceHolder 1"/>
          <p:cNvSpPr>
            <a:spLocks noGrp="1"/>
          </p:cNvSpPr>
          <p:nvPr>
            <p:ph type="body"/>
          </p:nvPr>
        </p:nvSpPr>
        <p:spPr>
          <a:xfrm>
            <a:off x="2494440" y="5047560"/>
            <a:ext cx="9000000" cy="4069080"/>
          </a:xfrm>
          <a:prstGeom prst="rect">
            <a:avLst/>
          </a:prstGeom>
          <a:noFill/>
          <a:ln w="0">
            <a:noFill/>
          </a:ln>
        </p:spPr>
        <p:txBody>
          <a:bodyPr lIns="0" anchor="t">
            <a:noAutofit/>
          </a:bodyPr>
          <a:lstStyle/>
          <a:p>
            <a:pPr>
              <a:lnSpc>
                <a:spcPts val="4201"/>
              </a:lnSpc>
              <a:tabLst>
                <a:tab pos="0" algn="l"/>
              </a:tabLst>
            </a:pPr>
            <a:r>
              <a:rPr lang="pl-PL" sz="3000" b="1" strike="noStrike" spc="-1">
                <a:solidFill>
                  <a:srgbClr val="4A4A4A"/>
                </a:solidFill>
                <a:latin typeface="Moderat JIT"/>
                <a:ea typeface="Moderat JIT"/>
              </a:rPr>
              <a:t>Tytuł prezentacji multimedialnej</a:t>
            </a:r>
            <a:endParaRPr lang="pl-PL" sz="3000" b="0" strike="noStrike" spc="-1">
              <a:solidFill>
                <a:srgbClr val="7C7C7C"/>
              </a:solidFill>
              <a:latin typeface="Moderat JIT"/>
            </a:endParaRPr>
          </a:p>
        </p:txBody>
      </p:sp>
      <p:sp>
        <p:nvSpPr>
          <p:cNvPr id="73" name="PlaceHolder 2"/>
          <p:cNvSpPr>
            <a:spLocks noGrp="1"/>
          </p:cNvSpPr>
          <p:nvPr>
            <p:ph type="body"/>
          </p:nvPr>
        </p:nvSpPr>
        <p:spPr>
          <a:xfrm>
            <a:off x="2494440" y="5644440"/>
            <a:ext cx="9000000" cy="4069080"/>
          </a:xfrm>
          <a:prstGeom prst="rect">
            <a:avLst/>
          </a:prstGeom>
          <a:noFill/>
          <a:ln w="0">
            <a:noFill/>
          </a:ln>
        </p:spPr>
        <p:txBody>
          <a:bodyPr lIns="0" anchor="t">
            <a:noAutofit/>
          </a:bodyPr>
          <a:lstStyle/>
          <a:p>
            <a:pPr>
              <a:lnSpc>
                <a:spcPts val="3600"/>
              </a:lnSpc>
              <a:tabLst>
                <a:tab pos="0" algn="l"/>
              </a:tabLst>
            </a:pPr>
            <a:r>
              <a:rPr lang="pl-PL" sz="1600" b="0" strike="noStrike" spc="-1">
                <a:solidFill>
                  <a:srgbClr val="FFD242"/>
                </a:solidFill>
                <a:latin typeface="Moderat JIT"/>
                <a:ea typeface="Moderat JIT"/>
              </a:rPr>
              <a:t>Podtytuł prezentacji multimedialnej</a:t>
            </a:r>
            <a:endParaRPr lang="pl-PL" sz="1600" b="0" strike="noStrike" spc="-1">
              <a:solidFill>
                <a:srgbClr val="7C7C7C"/>
              </a:solidFill>
              <a:latin typeface="Moderat JIT"/>
            </a:endParaRPr>
          </a:p>
        </p:txBody>
      </p:sp>
      <p:sp>
        <p:nvSpPr>
          <p:cNvPr id="74" name="PlaceHolder 3"/>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pl-PL" sz="1800" b="0" strike="noStrike" spc="-1">
                <a:solidFill>
                  <a:srgbClr val="494949"/>
                </a:solidFill>
                <a:latin typeface="ModeratJIT"/>
              </a:rPr>
              <a:t>Kliknij, aby edytować format tekstu tytułu</a:t>
            </a:r>
          </a:p>
        </p:txBody>
      </p:sp>
    </p:spTree>
    <p:extLst>
      <p:ext uri="{BB962C8B-B14F-4D97-AF65-F5344CB8AC3E}">
        <p14:creationId xmlns:p14="http://schemas.microsoft.com/office/powerpoint/2010/main" val="3432958083"/>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p:cNvSpPr>
          <p:nvPr>
            <p:ph/>
          </p:nvPr>
        </p:nvSpPr>
        <p:spPr>
          <a:xfrm>
            <a:off x="2494440" y="4908960"/>
            <a:ext cx="9358560" cy="1106280"/>
          </a:xfrm>
          <a:prstGeom prst="rect">
            <a:avLst/>
          </a:prstGeom>
          <a:noFill/>
          <a:ln w="0">
            <a:noFill/>
          </a:ln>
        </p:spPr>
        <p:txBody>
          <a:bodyPr lIns="0" anchor="t">
            <a:noAutofit/>
          </a:bodyPr>
          <a:lstStyle/>
          <a:p>
            <a:pPr marL="0" indent="0">
              <a:lnSpc>
                <a:spcPts val="4201"/>
              </a:lnSpc>
              <a:buNone/>
              <a:tabLst>
                <a:tab pos="0" algn="l"/>
              </a:tabLst>
            </a:pPr>
            <a:r>
              <a:rPr lang="pl-PL" sz="2800" b="1" strike="noStrike" spc="-1" dirty="0">
                <a:solidFill>
                  <a:srgbClr val="4A4A4A"/>
                </a:solidFill>
                <a:latin typeface="Moderat JIT"/>
                <a:ea typeface="Moderat JIT"/>
              </a:rPr>
              <a:t>Szybki feedback w CI/CD: pipeline, który testuje i raportuje bez utraty jakości</a:t>
            </a:r>
          </a:p>
        </p:txBody>
      </p:sp>
      <p:sp>
        <p:nvSpPr>
          <p:cNvPr id="158" name="PlaceHolder 2"/>
          <p:cNvSpPr>
            <a:spLocks noGrp="1"/>
          </p:cNvSpPr>
          <p:nvPr>
            <p:ph/>
          </p:nvPr>
        </p:nvSpPr>
        <p:spPr>
          <a:xfrm>
            <a:off x="1767840" y="6015960"/>
            <a:ext cx="10085160" cy="489600"/>
          </a:xfrm>
          <a:prstGeom prst="rect">
            <a:avLst/>
          </a:prstGeom>
          <a:noFill/>
          <a:ln w="0">
            <a:noFill/>
          </a:ln>
        </p:spPr>
        <p:txBody>
          <a:bodyPr lIns="0" anchor="t">
            <a:noAutofit/>
          </a:bodyPr>
          <a:lstStyle/>
          <a:p>
            <a:pPr marL="0" indent="0">
              <a:lnSpc>
                <a:spcPts val="3600"/>
              </a:lnSpc>
              <a:buNone/>
              <a:tabLst>
                <a:tab pos="0" algn="l"/>
              </a:tabLst>
            </a:pPr>
            <a:r>
              <a:rPr lang="pl-PL" sz="2400" b="1" strike="noStrike" spc="-1" dirty="0">
                <a:solidFill>
                  <a:schemeClr val="accent1"/>
                </a:solidFill>
                <a:latin typeface="Moderat JIT"/>
                <a:ea typeface="Moderat JIT"/>
              </a:rPr>
              <a:t>Tomasz Klepacki                                   6.09.2026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1670A09A-0CF0-5BB8-8247-90F198181AF5}"/>
              </a:ext>
            </a:extLst>
          </p:cNvPr>
          <p:cNvSpPr txBox="1">
            <a:spLocks/>
          </p:cNvSpPr>
          <p:nvPr/>
        </p:nvSpPr>
        <p:spPr>
          <a:xfrm>
            <a:off x="1595880" y="1134902"/>
            <a:ext cx="7669440" cy="573480"/>
          </a:xfrm>
          <a:prstGeom prst="rect">
            <a:avLst/>
          </a:prstGeom>
          <a:noFill/>
          <a:ln w="0">
            <a:noFill/>
          </a:ln>
        </p:spPr>
        <p:txBody>
          <a:bodyPr lIns="0" anchor="t">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ts val="4501"/>
              </a:lnSpc>
            </a:pPr>
            <a:r>
              <a:rPr lang="en-US" sz="4690" b="1" spc="-1" dirty="0">
                <a:solidFill>
                  <a:srgbClr val="4A4A4A"/>
                </a:solidFill>
                <a:latin typeface="Moderat JIT"/>
                <a:ea typeface="Moderat JIT"/>
              </a:rPr>
              <a:t>Tomasz Klepacki</a:t>
            </a:r>
            <a:br>
              <a:rPr lang="en-US" dirty="0"/>
            </a:br>
            <a:r>
              <a:rPr lang="en-US" sz="2060" spc="-1" dirty="0">
                <a:solidFill>
                  <a:srgbClr val="FFD242"/>
                </a:solidFill>
                <a:latin typeface="Moderat JIT"/>
                <a:ea typeface="Moderat JIT"/>
              </a:rPr>
              <a:t>Test Lead/Test Automation Engineer</a:t>
            </a:r>
            <a:br>
              <a:rPr lang="en-US" dirty="0"/>
            </a:br>
            <a:r>
              <a:rPr lang="en-US" sz="2060" spc="-1" dirty="0">
                <a:solidFill>
                  <a:srgbClr val="FFD242"/>
                </a:solidFill>
                <a:latin typeface="Moderat JIT"/>
                <a:ea typeface="Moderat JIT"/>
              </a:rPr>
              <a:t>Trainer/Speaker/Blogger/Mentor</a:t>
            </a:r>
            <a:endParaRPr lang="en-US" sz="2060" spc="-1" dirty="0">
              <a:solidFill>
                <a:srgbClr val="494949"/>
              </a:solidFill>
              <a:latin typeface="ModeratJIT"/>
            </a:endParaRPr>
          </a:p>
        </p:txBody>
      </p:sp>
      <p:pic>
        <p:nvPicPr>
          <p:cNvPr id="3" name="Grafika 6">
            <a:extLst>
              <a:ext uri="{FF2B5EF4-FFF2-40B4-BE49-F238E27FC236}">
                <a16:creationId xmlns:a16="http://schemas.microsoft.com/office/drawing/2014/main" id="{D200B0DC-4D03-F754-1E4C-25382B9863F8}"/>
              </a:ext>
            </a:extLst>
          </p:cNvPr>
          <p:cNvPicPr/>
          <p:nvPr/>
        </p:nvPicPr>
        <p:blipFill>
          <a:blip r:embed="rId3"/>
          <a:stretch/>
        </p:blipFill>
        <p:spPr>
          <a:xfrm>
            <a:off x="1480320" y="3263526"/>
            <a:ext cx="2358000" cy="797400"/>
          </a:xfrm>
          <a:prstGeom prst="rect">
            <a:avLst/>
          </a:prstGeom>
          <a:ln w="0">
            <a:noFill/>
          </a:ln>
        </p:spPr>
      </p:pic>
      <p:pic>
        <p:nvPicPr>
          <p:cNvPr id="4" name="Obraz 4" descr="Obraz zawierający tekst, Czcionka, symbol, Grafika&#10;&#10;Opis wygenerowany automatycznie">
            <a:extLst>
              <a:ext uri="{FF2B5EF4-FFF2-40B4-BE49-F238E27FC236}">
                <a16:creationId xmlns:a16="http://schemas.microsoft.com/office/drawing/2014/main" id="{E515BFB9-6379-FFD4-4D45-942A2AA2884F}"/>
              </a:ext>
            </a:extLst>
          </p:cNvPr>
          <p:cNvPicPr/>
          <p:nvPr/>
        </p:nvPicPr>
        <p:blipFill>
          <a:blip r:embed="rId4"/>
          <a:stretch/>
        </p:blipFill>
        <p:spPr>
          <a:xfrm>
            <a:off x="1639320" y="4321560"/>
            <a:ext cx="2575080" cy="533160"/>
          </a:xfrm>
          <a:prstGeom prst="rect">
            <a:avLst/>
          </a:prstGeom>
          <a:ln w="88900" cap="sq">
            <a:solidFill>
              <a:srgbClr val="FFFFFF"/>
            </a:solidFill>
            <a:miter/>
          </a:ln>
          <a:effectLst>
            <a:outerShdw blurRad="5508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Obraz 2" descr="Obraz zawierający osoba, mężczyzna, odzież, stojące&#10;&#10;Opis wygenerowany automatycznie">
            <a:extLst>
              <a:ext uri="{FF2B5EF4-FFF2-40B4-BE49-F238E27FC236}">
                <a16:creationId xmlns:a16="http://schemas.microsoft.com/office/drawing/2014/main" id="{490B2814-4515-6D09-0DB9-72AE002E1EB2}"/>
              </a:ext>
            </a:extLst>
          </p:cNvPr>
          <p:cNvPicPr/>
          <p:nvPr/>
        </p:nvPicPr>
        <p:blipFill>
          <a:blip r:embed="rId5"/>
          <a:stretch/>
        </p:blipFill>
        <p:spPr>
          <a:xfrm>
            <a:off x="7977600" y="917818"/>
            <a:ext cx="3203280" cy="4805280"/>
          </a:xfrm>
          <a:prstGeom prst="rect">
            <a:avLst/>
          </a:prstGeom>
          <a:ln w="0">
            <a:noFill/>
          </a:ln>
        </p:spPr>
      </p:pic>
      <p:pic>
        <p:nvPicPr>
          <p:cNvPr id="6" name="Obraz 5" descr="Obraz zawierający Ludzka twarz, ubrania, człowiek, uśmiech&#10;&#10;Zawartość wygenerowana przez sztuczną inteligencję może być niepoprawna.">
            <a:extLst>
              <a:ext uri="{FF2B5EF4-FFF2-40B4-BE49-F238E27FC236}">
                <a16:creationId xmlns:a16="http://schemas.microsoft.com/office/drawing/2014/main" id="{43582C60-D786-29F1-BA2D-FD01A2FF9A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421760" y="3180726"/>
            <a:ext cx="3348480" cy="2161937"/>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3" name="PlaceHolder 1">
            <a:extLst>
              <a:ext uri="{FF2B5EF4-FFF2-40B4-BE49-F238E27FC236}">
                <a16:creationId xmlns:a16="http://schemas.microsoft.com/office/drawing/2014/main" id="{23BAB759-EBDB-C78B-16CB-463C2A875A70}"/>
              </a:ext>
            </a:extLst>
          </p:cNvPr>
          <p:cNvSpPr>
            <a:spLocks noGrp="1"/>
          </p:cNvSpPr>
          <p:nvPr>
            <p:ph idx="4294967295"/>
          </p:nvPr>
        </p:nvSpPr>
        <p:spPr>
          <a:xfrm>
            <a:off x="406800" y="1592263"/>
            <a:ext cx="11195050" cy="4462462"/>
          </a:xfrm>
          <a:prstGeom prst="rect">
            <a:avLst/>
          </a:prstGeom>
          <a:noFill/>
          <a:ln w="0">
            <a:noFill/>
          </a:ln>
        </p:spPr>
        <p:txBody>
          <a:bodyPr lIns="0" tIns="45000" rIns="90000" bIns="45000" anchor="t">
            <a:noAutofit/>
          </a:bodyPr>
          <a:lstStyle/>
          <a:p>
            <a:pPr>
              <a:lnSpc>
                <a:spcPct val="100000"/>
              </a:lnSpc>
              <a:buClr>
                <a:srgbClr val="ED7D31"/>
              </a:buClr>
            </a:pPr>
            <a:r>
              <a:rPr lang="en-US" sz="1800" b="0" strike="noStrike" spc="-1" dirty="0">
                <a:solidFill>
                  <a:schemeClr val="accent5"/>
                </a:solidFill>
                <a:latin typeface="Moderat JIT"/>
                <a:ea typeface="Moderat JIT"/>
              </a:rPr>
              <a:t>•  Czym jest CI/CD i gdzie w tym wszystkim jest tester</a:t>
            </a:r>
          </a:p>
          <a:p>
            <a:pPr>
              <a:lnSpc>
                <a:spcPct val="100000"/>
              </a:lnSpc>
              <a:buClr>
                <a:srgbClr val="ED7D31"/>
              </a:buClr>
            </a:pPr>
            <a:r>
              <a:rPr lang="en-US" sz="1800" b="0" strike="noStrike" spc="-1" dirty="0">
                <a:solidFill>
                  <a:schemeClr val="accent5"/>
                </a:solidFill>
                <a:latin typeface="Moderat JIT"/>
                <a:ea typeface="Moderat JIT"/>
              </a:rPr>
              <a:t>•  Feedback loop jako metryka — dlaczego czekanie kosztuje</a:t>
            </a:r>
          </a:p>
          <a:p>
            <a:pPr>
              <a:lnSpc>
                <a:spcPct val="100000"/>
              </a:lnSpc>
              <a:buClr>
                <a:srgbClr val="ED7D31"/>
              </a:buClr>
            </a:pPr>
            <a:r>
              <a:rPr lang="en-US" sz="1800" b="0" strike="noStrike" spc="-1" dirty="0">
                <a:solidFill>
                  <a:schemeClr val="accent5"/>
                </a:solidFill>
                <a:latin typeface="Moderat JIT"/>
                <a:ea typeface="Moderat JIT"/>
              </a:rPr>
              <a:t>•  GitHub Actions: event, workflow, job, step, runner</a:t>
            </a:r>
          </a:p>
          <a:p>
            <a:pPr>
              <a:lnSpc>
                <a:spcPct val="100000"/>
              </a:lnSpc>
              <a:buClr>
                <a:srgbClr val="ED7D31"/>
              </a:buClr>
            </a:pPr>
            <a:r>
              <a:rPr lang="en-US" sz="1800" b="0" strike="noStrike" spc="-1" dirty="0">
                <a:solidFill>
                  <a:schemeClr val="accent5"/>
                </a:solidFill>
                <a:latin typeface="Moderat JIT"/>
                <a:ea typeface="Moderat JIT"/>
              </a:rPr>
              <a:t>•  ZADANIE 01 — mierzymy stan wyjściowy</a:t>
            </a:r>
          </a:p>
          <a:p>
            <a:pPr>
              <a:lnSpc>
                <a:spcPct val="100000"/>
              </a:lnSpc>
              <a:buClr>
                <a:srgbClr val="ED7D31"/>
              </a:buClr>
            </a:pPr>
            <a:r>
              <a:rPr lang="en-US" sz="1800" b="0" strike="noStrike" spc="-1" dirty="0">
                <a:solidFill>
                  <a:schemeClr val="accent5"/>
                </a:solidFill>
                <a:latin typeface="Moderat JIT"/>
                <a:ea typeface="Moderat JIT"/>
              </a:rPr>
              <a:t>•  Triggery, concurrency i kolejność kontroli (ZADANIA 02–03)</a:t>
            </a:r>
          </a:p>
          <a:p>
            <a:pPr>
              <a:lnSpc>
                <a:spcPct val="100000"/>
              </a:lnSpc>
              <a:buClr>
                <a:srgbClr val="ED7D31"/>
              </a:buClr>
            </a:pPr>
            <a:r>
              <a:rPr lang="en-US" sz="1800" b="0" strike="noStrike" spc="-1" dirty="0">
                <a:solidFill>
                  <a:schemeClr val="accent5"/>
                </a:solidFill>
                <a:latin typeface="Moderat JIT"/>
                <a:ea typeface="Moderat JIT"/>
              </a:rPr>
              <a:t>•  Rozbicie na joby, artefakt builda (ZADANIA 04–05)</a:t>
            </a:r>
          </a:p>
          <a:p>
            <a:pPr>
              <a:lnSpc>
                <a:spcPct val="100000"/>
              </a:lnSpc>
              <a:buClr>
                <a:srgbClr val="ED7D31"/>
              </a:buClr>
            </a:pPr>
            <a:r>
              <a:rPr lang="en-US" sz="1800" b="0" strike="noStrike" spc="-1" dirty="0">
                <a:solidFill>
                  <a:schemeClr val="accent5"/>
                </a:solidFill>
                <a:latin typeface="Moderat JIT"/>
                <a:ea typeface="Moderat JIT"/>
              </a:rPr>
              <a:t>•  Bezpieczeństwo i kontrakt API (ZADANIA 06–07)</a:t>
            </a:r>
          </a:p>
        </p:txBody>
      </p:sp>
      <p:sp>
        <p:nvSpPr>
          <p:cNvPr id="165" name="PlaceHolder 3">
            <a:extLst>
              <a:ext uri="{FF2B5EF4-FFF2-40B4-BE49-F238E27FC236}">
                <a16:creationId xmlns:a16="http://schemas.microsoft.com/office/drawing/2014/main" id="{E769F35D-D0A2-F3F3-6CD7-A6F8E90F8C6D}"/>
              </a:ext>
            </a:extLst>
          </p:cNvPr>
          <p:cNvSpPr>
            <a:spLocks noGrp="1"/>
          </p:cNvSpPr>
          <p:nvPr>
            <p:ph type="title" idx="4294967295"/>
          </p:nvPr>
        </p:nvSpPr>
        <p:spPr>
          <a:xfrm>
            <a:off x="406800" y="341313"/>
            <a:ext cx="10850563" cy="608012"/>
          </a:xfrm>
          <a:prstGeom prst="rect">
            <a:avLst/>
          </a:prstGeom>
          <a:noFill/>
          <a:ln w="0">
            <a:noFill/>
          </a:ln>
        </p:spPr>
        <p:txBody>
          <a:bodyPr lIns="0" tIns="45000" rIns="90000" bIns="45000" anchor="t">
            <a:noAutofit/>
          </a:bodyPr>
          <a:lstStyle/>
          <a:p>
            <a:pPr>
              <a:lnSpc>
                <a:spcPts val="4501"/>
              </a:lnSpc>
            </a:pPr>
            <a:r>
              <a:rPr lang="pl-PL" sz="3200" b="1" strike="noStrike" spc="-1" dirty="0">
                <a:solidFill>
                  <a:schemeClr val="accent5"/>
                </a:solidFill>
                <a:latin typeface="Moderat JIT"/>
                <a:ea typeface="Moderat JIT"/>
              </a:rPr>
              <a:t>Agenda</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63" name="PlaceHolder 1">
            <a:extLst>
              <a:ext uri="{FF2B5EF4-FFF2-40B4-BE49-F238E27FC236}">
                <a16:creationId xmlns:a16="http://schemas.microsoft.com/office/drawing/2014/main" id="{23BAB759-EBDB-C78B-16CB-463C2A875A70}"/>
              </a:ext>
            </a:extLst>
          </p:cNvPr>
          <p:cNvSpPr>
            <a:spLocks noGrp="1"/>
          </p:cNvSpPr>
          <p:nvPr>
            <p:ph idx="4294967295"/>
          </p:nvPr>
        </p:nvSpPr>
        <p:spPr>
          <a:xfrm>
            <a:off x="406800" y="1592263"/>
            <a:ext cx="11195050" cy="4462462"/>
          </a:xfrm>
          <a:prstGeom prst="rect">
            <a:avLst/>
          </a:prstGeom>
          <a:noFill/>
          <a:ln w="0">
            <a:noFill/>
          </a:ln>
        </p:spPr>
        <p:txBody>
          <a:bodyPr lIns="0" tIns="45000" rIns="90000" bIns="45000" anchor="t">
            <a:noAutofit/>
          </a:bodyPr>
          <a:lstStyle/>
          <a:p>
            <a:pPr>
              <a:lnSpc>
                <a:spcPct val="100000"/>
              </a:lnSpc>
              <a:buClr>
                <a:srgbClr val="ED7D31"/>
              </a:buClr>
            </a:pPr>
            <a:r>
              <a:rPr lang="en-US" sz="1800" b="0" strike="noStrike" spc="-1" dirty="0">
                <a:solidFill>
                  <a:schemeClr val="accent5"/>
                </a:solidFill>
                <a:latin typeface="Moderat JIT"/>
                <a:ea typeface="Moderat JIT"/>
              </a:rPr>
              <a:t>•  Smoke na PR, pełna regresja na main (ZADANIE 08)</a:t>
            </a:r>
          </a:p>
          <a:p>
            <a:pPr>
              <a:lnSpc>
                <a:spcPct val="100000"/>
              </a:lnSpc>
              <a:buClr>
                <a:srgbClr val="ED7D31"/>
              </a:buClr>
            </a:pPr>
            <a:r>
              <a:rPr lang="en-US" sz="1800" b="0" strike="noStrike" spc="-1" dirty="0">
                <a:solidFill>
                  <a:schemeClr val="accent5"/>
                </a:solidFill>
                <a:latin typeface="Moderat JIT"/>
                <a:ea typeface="Moderat JIT"/>
              </a:rPr>
              <a:t>•  Selektywność — co ta zmiana mogła zepsuć (ZADANIE 09)</a:t>
            </a:r>
          </a:p>
          <a:p>
            <a:pPr>
              <a:lnSpc>
                <a:spcPct val="100000"/>
              </a:lnSpc>
              <a:buClr>
                <a:srgbClr val="ED7D31"/>
              </a:buClr>
            </a:pPr>
            <a:r>
              <a:rPr lang="en-US" sz="1800" b="0" strike="noStrike" spc="-1" dirty="0">
                <a:solidFill>
                  <a:schemeClr val="accent5"/>
                </a:solidFill>
                <a:latin typeface="Moderat JIT"/>
                <a:ea typeface="Moderat JIT"/>
              </a:rPr>
              <a:t>•  Równoległość i shardowanie (ZADANIA 10–11)</a:t>
            </a:r>
          </a:p>
          <a:p>
            <a:pPr>
              <a:lnSpc>
                <a:spcPct val="100000"/>
              </a:lnSpc>
              <a:buClr>
                <a:srgbClr val="ED7D31"/>
              </a:buClr>
            </a:pPr>
            <a:r>
              <a:rPr lang="en-US" sz="1800" b="0" strike="noStrike" spc="-1" dirty="0">
                <a:solidFill>
                  <a:schemeClr val="accent5"/>
                </a:solidFill>
                <a:latin typeface="Moderat JIT"/>
                <a:ea typeface="Moderat JIT"/>
              </a:rPr>
              <a:t>•  Flaki: retry, kwarantanna, dryf środowiska (ZADANIE 12)</a:t>
            </a:r>
          </a:p>
          <a:p>
            <a:pPr>
              <a:lnSpc>
                <a:spcPct val="100000"/>
              </a:lnSpc>
              <a:buClr>
                <a:srgbClr val="ED7D31"/>
              </a:buClr>
            </a:pPr>
            <a:r>
              <a:rPr lang="en-US" sz="1800" b="0" strike="noStrike" spc="-1" dirty="0">
                <a:solidFill>
                  <a:schemeClr val="accent5"/>
                </a:solidFill>
                <a:latin typeface="Moderat JIT"/>
                <a:ea typeface="Moderat JIT"/>
              </a:rPr>
              <a:t>•  Raportowanie: scalanie, JUnit, trace (ZADANIA 13–15)</a:t>
            </a:r>
          </a:p>
          <a:p>
            <a:pPr>
              <a:lnSpc>
                <a:spcPct val="100000"/>
              </a:lnSpc>
              <a:buClr>
                <a:srgbClr val="ED7D31"/>
              </a:buClr>
            </a:pPr>
            <a:r>
              <a:rPr lang="en-US" sz="1800" b="0" strike="noStrike" spc="-1" dirty="0">
                <a:solidFill>
                  <a:schemeClr val="accent5"/>
                </a:solidFill>
                <a:latin typeface="Moderat JIT"/>
                <a:ea typeface="Moderat JIT"/>
              </a:rPr>
              <a:t>•  Publikacja raportów i sekrety (ZADANIE 16)</a:t>
            </a:r>
          </a:p>
          <a:p>
            <a:pPr>
              <a:lnSpc>
                <a:spcPct val="100000"/>
              </a:lnSpc>
              <a:buClr>
                <a:srgbClr val="ED7D31"/>
              </a:buClr>
            </a:pPr>
            <a:r>
              <a:rPr lang="en-US" sz="1800" b="0" strike="noStrike" spc="-1" dirty="0">
                <a:solidFill>
                  <a:schemeClr val="accent5"/>
                </a:solidFill>
                <a:latin typeface="Moderat JIT"/>
                <a:ea typeface="Moderat JIT"/>
              </a:rPr>
              <a:t>•  Porządek i bramka scalania (ZADANIA 17–18)</a:t>
            </a:r>
          </a:p>
          <a:p>
            <a:pPr>
              <a:lnSpc>
                <a:spcPct val="100000"/>
              </a:lnSpc>
              <a:buClr>
                <a:srgbClr val="ED7D31"/>
              </a:buClr>
            </a:pPr>
            <a:r>
              <a:rPr lang="en-US" sz="1800" b="0" strike="noStrike" spc="-1" dirty="0">
                <a:solidFill>
                  <a:schemeClr val="accent5"/>
                </a:solidFill>
                <a:latin typeface="Moderat JIT"/>
                <a:ea typeface="Moderat JIT"/>
              </a:rPr>
              <a:t>•  Podsumowanie: baseline kontra finał na Waszych liczbach</a:t>
            </a:r>
          </a:p>
        </p:txBody>
      </p:sp>
      <p:sp>
        <p:nvSpPr>
          <p:cNvPr id="165" name="PlaceHolder 3">
            <a:extLst>
              <a:ext uri="{FF2B5EF4-FFF2-40B4-BE49-F238E27FC236}">
                <a16:creationId xmlns:a16="http://schemas.microsoft.com/office/drawing/2014/main" id="{E769F35D-D0A2-F3F3-6CD7-A6F8E90F8C6D}"/>
              </a:ext>
            </a:extLst>
          </p:cNvPr>
          <p:cNvSpPr>
            <a:spLocks noGrp="1"/>
          </p:cNvSpPr>
          <p:nvPr>
            <p:ph type="title" idx="4294967295"/>
          </p:nvPr>
        </p:nvSpPr>
        <p:spPr>
          <a:xfrm>
            <a:off x="406800" y="341313"/>
            <a:ext cx="10850563" cy="608012"/>
          </a:xfrm>
          <a:prstGeom prst="rect">
            <a:avLst/>
          </a:prstGeom>
          <a:noFill/>
          <a:ln w="0">
            <a:noFill/>
          </a:ln>
        </p:spPr>
        <p:txBody>
          <a:bodyPr lIns="0" tIns="45000" rIns="90000" bIns="45000" anchor="t">
            <a:noAutofit/>
          </a:bodyPr>
          <a:lstStyle/>
          <a:p>
            <a:pPr>
              <a:lnSpc>
                <a:spcPts val="4501"/>
              </a:lnSpc>
            </a:pPr>
            <a:r>
              <a:rPr lang="pl-PL" sz="3200" b="1" strike="noStrike" spc="-1" dirty="0">
                <a:solidFill>
                  <a:schemeClr val="accent5"/>
                </a:solidFill>
                <a:latin typeface="Moderat JIT"/>
                <a:ea typeface="Moderat JIT"/>
              </a:rPr>
              <a:t>Agenda</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Continuous Integration, Delivery, Deployment</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Continuous Integration — częsta integracja kodu, automatyczna weryfikacja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Continuous Delivery — gotowość do wdrożenia w każdej chwili, decyzja ręczna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Continuous Deployment — każda poprawna zmiana trafia na produkcję sama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Różnica między Delivery a Deployment to jedna decyzja: kto naciska guzik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Gdzie w tym wszystkim jest tester</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To my decydujemy, czego pipeline dowodzi — i czego 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Zielony pipeline znaczy dokładnie tyle, ile sprawdza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Kolejność i dobór kontroli to decyzja testerska, nie devopsowa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Dziś zobaczycie pipeline, który przepuszcza zepsuty lint i wyciek sekretu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Feedback loop — dlaczego czekanie kosztuje</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Cztery minuty to nie cztery minuty — to utrata kontekstu</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Im później sygnał, tym drożej kosztuje poprawka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Metryka dnia: czas do pierwszego czerwonego sygnału</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Nie: „ile trwa pipeline”, tylko: „jak szybko wiem, że coś jest nie tak”</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Piramida testów w kontekście CI</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Testy jednostkowe: tanie, szybkie, dużo — sekundy</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Testy API: średni koszt, średnia pewność</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Testy UI: najdroższe, najwolniejsze, najmniej przewidywalne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Wniosek dla pipeline'u: kolejność ma odpowiadać kosztowi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W naszym baseline jest dokładnie odwrotnie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GitHub Actions — pojęcia</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Event — co uruchamia pipeline (push, pull_request, schedule)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Workflow — plik YAML w .github/workflows/</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Job — zestaw kroków; każdy job to osobna maszyna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Step — pojedyncze polecenie albo gotowa akcja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Runner — maszyna, na której to wszystko się wykonuje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Nasze warunki brzegowe</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Darmowe konto GitHub — 20 równoległych jobów na całe konto</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Repozytorium publiczne: nielimitowane minuty i 4 vCPU zamiast 2</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Tylko ubuntu-latest — bez większych runnerów</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Aplikacja startuje na runnerze; BASE_URL przełącza na inne środowisko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Jak czytać przebieg w GitHub Actions</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Suma czasu nic nie mówi — liczy się rozkład na kroki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Actions → run → job → rozwiń krok, przy każdym jest czas</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Szukamy dwóch rzeczy: co trwa najdłużej i co jest za późno</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Dobra metryka jest jedna, mierzalna i niewygodna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01 — Baseline i pomiar</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Cel: zmierzyć stan wyjściowy. Nie zmieniamy ani linijki ci.yml</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Uruchom pipeline, przepisz czasy kroków do docs/baseline.md</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Zmierz czas do pierwszego czerwonego sygnału na demo/failing-unit</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Sprawdź demo/failing-lint i demo/failing-security — wynik Cię zaskoczy</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Wypisz pięć problemów, które widzisz</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Eventy i concurrency</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push, pull_request, schedule, workflow_dispatch — różne pytania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pull_request testuje commit scalenia, nie szczyt gałęzi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Trzy pushe pod rząd to trzy pełne przebiegi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Dwa pierwsze są nieaktualne, zanim ruszy trzeci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02 — Triggery i concurrency</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push tylko na main, dodaj pull_request i workflow_dispatch</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Dodaj concurrency z cancel-in-progress</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Udowodnij: trzy szybkie pushe = jeden działający run, dwa anulowane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 przemyślenia: kiedy anulowanie jest złym pomysłem?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Kolejność kontroli i shift left</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Wasz pomiar: testy jednostkowe trwają sekundę i są ostatnie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Czekacie 3:44 na informację dostępną po sekundzie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Shift left: najtańsza kontrola, która potrafi ubić przebieg, idzie pierwsza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Cache: co jest naprawdę drogie? Zmierzcie, nie zgadujcie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Lintu i typechecku w tym pipelinie nie ma wcale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03 — Szybkie kontrole i cache</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Dodaj lint, typecheck i jawny build — przed testami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Przestaw testy: jednostkowe → API → UI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Zacache'uj zależności npm ORAZ przeglądarki (dwa różne cache)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Klucz cache przeglądarek musi zawierać wersję Playwrighta</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Zmierz na demo/failing-lint: z „nigdy” na ile sekund?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Joby, zależności i rozdzielanie sygnałów</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Każdy job to osobna maszyna — może biec równolegle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needs opisuje zależność, ale NIE przekazuje plików</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Jeden job „test” daje jeden sygnał: zielony albo czerwony</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Pięć jobów mówi, co dokładnie padło — bez wchodzenia w logi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Koszt: suma minut rośnie, czas oczekiwania spada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04 — Rozbicie na joby i needs</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Wydziel: quality, unit, build, test-api, test-ui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Zastanów się, co NAPRAWDĘ od czego zależy</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Obejrzyj graf zależności w zakładce Actions</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Zmierz: czas przebiegu spada, suma minut rośnie — zrozum dlaczego</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Artefakty — zbuduj raz, testuj wszędzie</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needs przekazuje sygnał, nie pliki — job nie widzi dist/</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Skutek: aplikacja budowana trzy razy w trzech jobach</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Artefakt to ten sam bajt w każdym jobie — determinizm</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Build ukryty w webServer: błąd kompilacji udaje błąd testu</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05 — Artefakt builda</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build publikuje dist/ jako artefakt</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test-api i test-ui pobierają artefakt zamiast budować od nowa</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Wyjmij npm run build z webServer w playwright.config.ts</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Zepsuj kompilację i sprawdź, GDZIE teraz pada pipeline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Bezpieczeństwo jako część jakości</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Branch z tokenem API w kodzie przeszedł na zielono</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Dwie różne rzeczy: podatności w zależnościach i sekrety w kodzie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gitleaks skanuje historię, nie tylko bieżące pliki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Decyzja: blokować czy ostrzegać? To zależy od kosztu pomyłki</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06 — Skan bezpieczeństwa</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Równoległy job: npm audit --audit-level=high</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gitleaks z regułą z .gitleaks.toml</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Sprawdź na demo/failing-security — teraz musi paść</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 dyskusji: continue-on-error czy blokowanie merge'a</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Kontrakt API i zmiany łamiące</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Aplikacja wystawia swój kontrakt: /api/openapi.json i /api/docs</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Usunięte pole wychodzi dziś z padających testów UI konsumenta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Kilkanaście minut później i w zupełnie innym miejscu niż przyczyna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Porównanie specyfikacji: kilkanaście sekund, równolegle z lintem</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07 — Kontrakt API</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npm run openapi:dump zapisuje spec BEZ podnoszenia serwera</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Porównaj spec z main i z PR-a narzędziem oasdiff</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Wymaga fetch-depth: 0 — porównujemy dwie wersje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 dyskusji: jak przepuścić świadomą zmianę łamiącą?</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Smoke kontra regresja — jak wybrać pięć testów</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Pull request pyta o jedno: czy coś oczywistego się zepsuło?</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Smoke to nie „szybkie testy”, tylko ścieżka krytyczna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Nasze pięć: katalog, wyszukiwanie, koszyk, suma, zamówienie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Pełna regresja na main — jej wynik bramkuje wydanie, nie review</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Trzeci tryb: nocny cron dla tego, co nie musi być natychmiast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08 — Trzy tryby uruchomienia</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Tagi @smoke i --grep na pull requestach</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Pełna regresja na main</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on: schedule — nocny przebieg (cron działa, bo to nie jest fork)</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workflow_dispatch z wyborem zakresu: smoke, regression, all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Selektywność — co ta zmiana mogła zepsuć</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Zmiana w README nie może zepsuć testów UI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Dwa piętra decyzji: czy odpalać job i które testy w nim</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paths-filter decyduje o jobie, --only-changed o testach</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Filtr, który przepuszcza zmianę łamiącą, jest gorszy niż brak filtru</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09 — Selektywność na dwóch poziomach</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dorny/paths-filter: czy w ogóle uruchamiać testy UI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playwright --only-changed: które testy uruchomić</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Pułapka: wymaga fetch-depth: 0, bez historii nie znajdzie nic</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Pułapka: skipped ≠ success przy required checks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Dwie osie równoległości</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Oś pionowa — workers: więcej procesów na jednej maszynie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Oś pozioma — shardowanie: więcej maszyn</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Limit pionowej: 4 rdzenie runnera. Poziomej: 20 jobów na konto</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Pionowa nie kosztuje nic. Pozioma mnoży zużycie minut</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Domyślny workers: 1 na CI jest kopiowany do tysięcy projektów</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10 — Workers, potem shardowanie</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Zmierz trzy razy: workers 1, workers 4, potem 4 shardy</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Rób to w tej kolejności — chodzi o porównanie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fail-fast: false, inaczej jeden shard ubija resztę</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Pułapka: upload-artifact wymaga unikalnych nazw w przebiegu</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Zapisz, która oś dała więcej i ile kosztowała</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Matrix jako mechanizm ogólny</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Matrix to nie synonim shardowania — to generator jobów</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fromJSON pozwala policzyć matrixa wyrażeniem</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Matrix mnoży: dwa wymiary po cztery wartości to szesnaście maszyn</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Pięć testów na czterech maszynach: więcej startu niż testowania</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11 — Matrix, który liczy sam siebie</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Dwa shardy dla pull_request, osiem dla main</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fromJSON — matrixa nie da się policzyć, ale można mu podać tablicę</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Mianownik w --shard musi zmieniać się razem z matrixem</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Policz, ile jobów zostaje do limitu 20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Flaki — czego nie naprawi żaden retry</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Flak to test, który przy tym samym kodzie raz przechodzi, raz 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Przyczyny: czas, wyścig, współdzielony stan, kolejność, ŚRODOWISKO</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Retry nie naprawia — wydłuża najgorszy przypadek i ukrywa problem</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Playwright raportuje „flaky” osobno od „passed” — to sygnał, nie sukces</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ubuntu-latest to etykieta, którą GitHub przesuwa pod spodem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12 — Retry, kwarantanna i zamrożone środowisko</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retries na CI — i uczciwa rozmowa o koszcie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Kwarantanna: tag @flaky w osobnym, nieblokującym jobie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Przypięty obraz Playwrighta zamraża przeglądarkę, system i czcionki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Pusta kwarantanna to stan zdrowy — job nie może przez to padać</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 dyskusji: kiedy kwarantanna staje się śmietnikiem?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Dlaczego shardowanie psuje raportowanie</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Cztery shardy to cztery osobne raporty HTML</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Nie da się ich sensownie połączyć — to gotowe strony</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blob to format pośredni, zaprojektowany do scalania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Zmiana, o której się zapomina razem z shardowaniem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13 — Scalanie raportów</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Reporter blob zamiast html na CI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Osobny job ui-report z needs i if: always()</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merge-multiple: true przy pobieraniu artefaktów</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Raport z zielonego przebiegu to ten, którego nikt nie czyta</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Komu służy raport</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Programista w review chce annotacji przy linii kodu</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Tester chce listy testów z podziałem na przyczyny</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Manager chce jednej liczby: przeszło czy 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JUnit jako wspólny format dla unit, API i UI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Każdy typ testów raportujący inaczej = nikt nie patrzy na wyniki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14 — Jeden format dla wszystkich testów</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JUnit z Vitest, z testów API i z testów UI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dorny/test-reporter tworzy check run z listą testów</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Wymaga checks: write — pierwszy raz permissions ma konsekwencję</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Job Summary: tabela wyników bez wchodzenia w logi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if: always() na każdym uploadzie artefaktu</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Diagnozowalność — padło w CI, co teraz</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Cały dzień uczymy się szybko dostawać czerwony sygnał</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Ale co z nim zrobić? Log mówi „expected 6, received 12”</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Trace to nagranie: DOM przed i po akcji, sieć, konsola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Trace ze wszystkiego to setki megabajtów, których nikt nie otworzy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15 — Trace jako narzędzie diagnozy</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Pobierz artefakt z traceʼem z padającego przebiegu</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npx playwright show-trace — przejdź po osi czasu</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Ustaw trace na on-first-retry zamiast on</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Trace wgrywany tylko przy porażce, z dłuższą retencją</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Sekrety w GitHub Actions</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Sekrety NIE są kopiowane przez fork ani przez szablon</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Maskowane w logach, ale to nie jest zabezpieczenie</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Token o najwęższym możliwym zakresie i z datą ważności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Artefakty wygasają — raport na storage'u ma URL do wklejenia</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16 — Publikacja raportu i sekrety</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Wklej cztery sekrety R2 do ustawień swojego repozytorium</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aws s3 sync z endpointem R2 — API zgodne z S3</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Prefiks per uczestnik i numer przebiegu, żeby się nie nadpisywać</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Publiczny URL raportu w Job Summary</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Ten sam krok dla Azure Blob czy S3 to zmiana endpointu</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Dług w pipelinie</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Po szesnastu zadaniach ten sam setup jest w siedmiu jobach</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Composite action dzieli kroki wewnątrz joba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Reusable workflow dzieli całe joby między workflow'ami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Optymalizacja zostawia po sobie śmieci — i nikt ich nie sprząta</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17 — Composite action</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Zwiń powtórzony setup do .github/actions/setup</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Uwaga: akcja lokalna wymaga wcześniejszego checkout</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Znajdź i usuń kroki, które kontener uczynił zbędnymi</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Do dyskusji: kiedy composite, a kiedy reusable workflow?</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Pipeline, któremu zespół ufa</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Wymagane kontrole: nazwy z matrixa zmieniają się razem z nim</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Jeden agregujący job o stałej nazwie zamiast dwunastu</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Pominięty job musi liczyć się jako sukces — inaczej blokada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Least privilege: read-only domyślnie, wyjątek widoczny w review</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Czerwony pipeline, który wszyscy ignorują, jest gorszy niż jego brak</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49" name="PlaceHolder 2"/>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err="1">
                <a:solidFill>
                  <a:schemeClr val="accent5"/>
                </a:solidFill>
                <a:latin typeface="Moderat JIT"/>
                <a:ea typeface="Moderat JIT"/>
              </a:rPr>
              <a:t>ZADANIE 18 — Bramka i domknięcie</a:t>
            </a:r>
          </a:p>
        </p:txBody>
      </p:sp>
      <p:sp>
        <p:nvSpPr>
          <p:cNvPr id="250" name="PlaceHolder 59"/>
          <p:cNvSpPr/>
          <p:nvPr/>
        </p:nvSpPr>
        <p:spPr>
          <a:xfrm>
            <a:off x="408240" y="1592280"/>
            <a:ext cx="11556000" cy="4464360"/>
          </a:xfrm>
          <a:prstGeom prst="rect">
            <a:avLst/>
          </a:prstGeom>
          <a:noFill/>
          <a:ln w="0">
            <a:noFill/>
          </a:ln>
        </p:spPr>
        <p:style>
          <a:lnRef idx="0">
            <a:scrgbClr r="0" g="0" b="0"/>
          </a:lnRef>
          <a:fillRef idx="0">
            <a:scrgbClr r="0" g="0" b="0"/>
          </a:fillRef>
          <a:effectRef idx="0">
            <a:scrgbClr r="0" g="0" b="0"/>
          </a:effectRef>
          <a:fontRef idx="minor"/>
        </p:style>
        <p:txBody>
          <a:bodyPr lIns="0" tIns="45000" rIns="90000" bIns="45000" anchor="t">
            <a:noAutofit/>
          </a:bodyPr>
          <a:lstStyle/>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Job pipeline-status agregujący needs.*.result</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timeout-minutes w każdym jobie, permissions least privilege</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Ruleset na main z jedną wymaganą kontrolą</a:t>
            </a:r>
          </a:p>
          <a:p>
            <a:pPr marL="432000" indent="-324000">
              <a:lnSpc>
                <a:spcPct val="150000"/>
              </a:lnSpc>
              <a:buClr>
                <a:srgbClr val="ED7D31"/>
              </a:buClr>
              <a:buFont typeface="Times New Roman"/>
              <a:buAutoNum type="arabicPeriod"/>
            </a:pPr>
            <a:r>
              <a:rPr lang="en-US" b="0" strike="noStrike" spc="-1" dirty="0" err="1" sz="1800">
                <a:solidFill>
                  <a:schemeClr val="accent5"/>
                </a:solidFill>
                <a:latin typeface="Moderat JIT"/>
                <a:ea typeface="Moderat JIT"/>
              </a:rPr>
              <a:t>•  Wypełnij tabelę baseline kontra finał WŁASNYMI liczbami</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Baseline kontra finał</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Czas na main: 3:58 → 1:50</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Czas do błędu lintu: nigdy → około 35 sekund</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Czas do błędu testu jednostkowego: 3:44 → około 40 sekund</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Kontroli na pull requeście: 1 → 7</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Szybciej, robiąc znacznie więcej — to nie jest usunięta praca</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35" name="PlaceHolder 3"/>
          <p:cNvSpPr>
            <a:spLocks noGrp="1"/>
          </p:cNvSpPr>
          <p:nvPr>
            <p:ph type="title" idx="4294967295"/>
          </p:nvPr>
        </p:nvSpPr>
        <p:spPr>
          <a:xfrm>
            <a:off x="406800" y="341313"/>
            <a:ext cx="11198225" cy="611187"/>
          </a:xfrm>
          <a:prstGeom prst="rect">
            <a:avLst/>
          </a:prstGeom>
          <a:noFill/>
          <a:ln w="0">
            <a:noFill/>
          </a:ln>
        </p:spPr>
        <p:txBody>
          <a:bodyPr lIns="0" tIns="45000" rIns="90000" bIns="45000" anchor="t">
            <a:noAutofit/>
          </a:bodyPr>
          <a:lstStyle/>
          <a:p>
            <a:pPr>
              <a:lnSpc>
                <a:spcPct val="98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200" b="1" strike="noStrike" spc="-1" dirty="0">
                <a:solidFill>
                  <a:schemeClr val="accent5"/>
                </a:solidFill>
                <a:latin typeface="Moderat JIT"/>
                <a:ea typeface="Moderat JIT"/>
              </a:rPr>
              <a:t>Co zabrać do swojego projektu</a:t>
            </a:r>
          </a:p>
        </p:txBody>
      </p:sp>
      <p:sp>
        <p:nvSpPr>
          <p:cNvPr id="5" name="Rectangle 4">
            <a:extLst>
              <a:ext uri="{FF2B5EF4-FFF2-40B4-BE49-F238E27FC236}">
                <a16:creationId xmlns:a16="http://schemas.microsoft.com/office/drawing/2014/main" id="{95A901DD-B309-5BD5-E6BC-3E4C467CD06A}"/>
              </a:ext>
            </a:extLst>
          </p:cNvPr>
          <p:cNvSpPr>
            <a:spLocks noChangeArrowheads="1"/>
          </p:cNvSpPr>
          <p:nvPr/>
        </p:nvSpPr>
        <p:spPr bwMode="auto">
          <a:xfrm rot="10800000" flipV="1">
            <a:off x="496200" y="1591200"/>
            <a:ext cx="11199600" cy="4464000"/>
          </a:xfrm>
          <a:prstGeom prst="rect">
            <a:avLst/>
          </a:prstGeom>
          <a:noFill/>
          <a:ln w="0">
            <a:noFill/>
          </a:ln>
        </p:spPr>
        <p:txBody>
          <a:bodyPr lIns="0" tIns="45000" rIns="90000" bIns="45000" anchor="t">
            <a:noAutofit/>
          </a:bodyPr>
          <a:lstStyle/>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Zmierz swój baseline — czas do pierwszego czerwonego sygnału</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Sprawdź, czego Twój pipeline NIE sprawdza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Najtańsza kontrola, która potrafi ubić przebieg, idzie pierwsza</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Zajrzyj do konfiguracji: ile masz workerów na CI?</a:t>
            </a:r>
          </a:p>
          <a:p>
            <a:pPr marL="342900" indent="-342900">
              <a:lnSpc>
                <a:spcPct val="150000"/>
              </a:lnSpc>
              <a:spcBef>
                <a:spcPts val="1000"/>
              </a:spcBef>
              <a:buClr>
                <a:srgbClr val="ED7D31"/>
              </a:buClr>
              <a:buFont typeface="Arial" panose="020B0604020202020204" pitchFamily="34" charset="0"/>
              <a:buChar char="•"/>
            </a:pPr>
            <a:r>
              <a:rPr lang="pl-PL" sz="1800" b="1" spc="-1" dirty="0">
                <a:solidFill>
                  <a:schemeClr val="accent5"/>
                </a:solidFill>
                <a:latin typeface="Moderat JIT"/>
                <a:ea typeface="Moderat JIT"/>
              </a:rPr>
              <a:t>•  Trzy rzeczy, które zmienię w poniedziałek — wypiszcie je teraz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94949"/>
      </a:dk2>
      <a:lt2>
        <a:srgbClr val="FEFFFF"/>
      </a:lt2>
      <a:accent1>
        <a:srgbClr val="FFD241"/>
      </a:accent1>
      <a:accent2>
        <a:srgbClr val="7C7C7C"/>
      </a:accent2>
      <a:accent3>
        <a:srgbClr val="1D1D1D"/>
      </a:accent3>
      <a:accent4>
        <a:srgbClr val="EDEDED"/>
      </a:accent4>
      <a:accent5>
        <a:srgbClr val="494949"/>
      </a:accent5>
      <a:accent6>
        <a:srgbClr val="FFFFFF"/>
      </a:accent6>
      <a:hlink>
        <a:srgbClr val="FFD241"/>
      </a:hlink>
      <a:folHlink>
        <a:srgbClr val="FFD24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94949"/>
      </a:dk2>
      <a:lt2>
        <a:srgbClr val="FEFFFF"/>
      </a:lt2>
      <a:accent1>
        <a:srgbClr val="FFD241"/>
      </a:accent1>
      <a:accent2>
        <a:srgbClr val="7C7C7C"/>
      </a:accent2>
      <a:accent3>
        <a:srgbClr val="1D1D1D"/>
      </a:accent3>
      <a:accent4>
        <a:srgbClr val="EDEDED"/>
      </a:accent4>
      <a:accent5>
        <a:srgbClr val="494949"/>
      </a:accent5>
      <a:accent6>
        <a:srgbClr val="FFFFFF"/>
      </a:accent6>
      <a:hlink>
        <a:srgbClr val="FFD241"/>
      </a:hlink>
      <a:folHlink>
        <a:srgbClr val="FFD24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94949"/>
      </a:dk2>
      <a:lt2>
        <a:srgbClr val="FEFFFF"/>
      </a:lt2>
      <a:accent1>
        <a:srgbClr val="FFD241"/>
      </a:accent1>
      <a:accent2>
        <a:srgbClr val="7C7C7C"/>
      </a:accent2>
      <a:accent3>
        <a:srgbClr val="1D1D1D"/>
      </a:accent3>
      <a:accent4>
        <a:srgbClr val="EDEDED"/>
      </a:accent4>
      <a:accent5>
        <a:srgbClr val="494949"/>
      </a:accent5>
      <a:accent6>
        <a:srgbClr val="FFFFFF"/>
      </a:accent6>
      <a:hlink>
        <a:srgbClr val="FFD241"/>
      </a:hlink>
      <a:folHlink>
        <a:srgbClr val="FFD241"/>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56438</TotalTime>
  <Words>7246</Words>
  <Application>Microsoft Macintosh PowerPoint</Application>
  <PresentationFormat>Panoramiczny</PresentationFormat>
  <Paragraphs>662</Paragraphs>
  <Slides>42</Slides>
  <Notes>42</Notes>
  <HiddenSlides>0</HiddenSlides>
  <MMClips>0</MMClips>
  <ScaleCrop>false</ScaleCrop>
  <HeadingPairs>
    <vt:vector size="6" baseType="variant">
      <vt:variant>
        <vt:lpstr>Używane czcionki</vt:lpstr>
      </vt:variant>
      <vt:variant>
        <vt:i4>9</vt:i4>
      </vt:variant>
      <vt:variant>
        <vt:lpstr>Motyw</vt:lpstr>
      </vt:variant>
      <vt:variant>
        <vt:i4>2</vt:i4>
      </vt:variant>
      <vt:variant>
        <vt:lpstr>Tytuły slajdów</vt:lpstr>
      </vt:variant>
      <vt:variant>
        <vt:i4>42</vt:i4>
      </vt:variant>
    </vt:vector>
  </HeadingPairs>
  <TitlesOfParts>
    <vt:vector size="53" baseType="lpstr">
      <vt:lpstr>Arial</vt:lpstr>
      <vt:lpstr>Calibri</vt:lpstr>
      <vt:lpstr>Moderat JIT</vt:lpstr>
      <vt:lpstr>ModeratJIT</vt:lpstr>
      <vt:lpstr>Söhne</vt:lpstr>
      <vt:lpstr>StarSymbol</vt:lpstr>
      <vt:lpstr>Symbol</vt:lpstr>
      <vt:lpstr>Times New Roman</vt:lpstr>
      <vt:lpstr>Wingdings</vt:lpstr>
      <vt:lpstr>Office Theme</vt:lpstr>
      <vt:lpstr>1_Office Theme</vt:lpstr>
      <vt:lpstr>Prezentacja programu PowerPoint</vt:lpstr>
      <vt:lpstr>Prezentacja programu PowerPoint</vt:lpstr>
      <vt:lpstr>Agenda</vt:lpstr>
      <vt:lpstr>Agenda</vt:lpstr>
      <vt:lpstr>Continuous Integration</vt:lpstr>
      <vt:lpstr>Continuous Integration</vt:lpstr>
      <vt:lpstr>Continuous Delivery vs Continuous Deployment</vt:lpstr>
      <vt:lpstr>Docker</vt:lpstr>
      <vt:lpstr>Docker Hub – Repozytoria obrazów</vt:lpstr>
      <vt:lpstr>Zadanie I – Docker – Podstawowe komendy</vt:lpstr>
      <vt:lpstr>Jenkins</vt:lpstr>
      <vt:lpstr>Zadanie II – Instalacja Jenkinsa z obrazu Dockera</vt:lpstr>
      <vt:lpstr>Jenkins CI - Terminologia</vt:lpstr>
      <vt:lpstr>Jenkins CI – Architektura Master &lt;-&gt; Node</vt:lpstr>
      <vt:lpstr>Zadanie III – Utworzenie maszyny typu Node</vt:lpstr>
      <vt:lpstr>Pipelines</vt:lpstr>
      <vt:lpstr>Jenkins Pipeline</vt:lpstr>
      <vt:lpstr>Declarative vs Scripted</vt:lpstr>
      <vt:lpstr>Zadanie IV – Jenkins Pipeline</vt:lpstr>
      <vt:lpstr>Zadanie V – Parametryzacja Buildów</vt:lpstr>
      <vt:lpstr>Zadanie VI – Raporty HTML i artefakty</vt:lpstr>
      <vt:lpstr>CRON</vt:lpstr>
      <vt:lpstr>Przykłady zastosowania CRON</vt:lpstr>
      <vt:lpstr>Zadanie VII – Build Scheduler</vt:lpstr>
      <vt:lpstr>Blue Ocean</vt:lpstr>
      <vt:lpstr>Zadanie VIII – Blue Ocean</vt:lpstr>
      <vt:lpstr>Notyfikacje Slack</vt:lpstr>
      <vt:lpstr>Zadanie IX – Slack Notification Plugin</vt:lpstr>
      <vt:lpstr>Notyfikacje mailowe</vt:lpstr>
      <vt:lpstr>Zadanie X – Mailer Extension</vt:lpstr>
      <vt:lpstr>GitHub Actions</vt:lpstr>
      <vt:lpstr>GitHub Actions – Kluczowe cechy</vt:lpstr>
      <vt:lpstr>GitHub Actions – Przykłady zastosowań</vt:lpstr>
      <vt:lpstr>GitHub Actions vs Jenkins</vt:lpstr>
      <vt:lpstr>Konfiguracja YAML</vt:lpstr>
      <vt:lpstr>Zadanie XI – Pierwszy Workflow w GitHub Actions</vt:lpstr>
      <vt:lpstr>Zadanie XII – Dodanie raportu z wyników testów</vt:lpstr>
      <vt:lpstr>Zadanie XIII – Tworzenie artefaktów dla raportów testowych</vt:lpstr>
      <vt:lpstr>Zadanie XIV – Workflow Scheduler</vt:lpstr>
      <vt:lpstr>Zadanie XV – Parametryzacja workflow</vt:lpstr>
      <vt:lpstr>Zadanie XVI – Slack Notifications</vt:lpstr>
      <vt:lpstr>Zadanie XVII – Mail Notifications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PRZYKŁADOWY TYTUŁ PREZENTACJI MULTIMEDIALNEJ</dc:title>
  <dc:subject/>
  <dc:creator>Kamil Rasiński</dc:creator>
  <dc:description/>
  <cp:lastModifiedBy>Tomas Klepacki</cp:lastModifiedBy>
  <cp:revision>1689</cp:revision>
  <cp:lastPrinted>2019-01-10T12:49:03Z</cp:lastPrinted>
  <dcterms:created xsi:type="dcterms:W3CDTF">2017-12-14T16:10:18Z</dcterms:created>
  <dcterms:modified xsi:type="dcterms:W3CDTF">2025-02-28T21:59:31Z</dcterms:modified>
  <dc:language>pl-PL</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039641-b25d-4728-8e8b-0459e2c0a6e6_ActionId">
    <vt:lpwstr>e41c1240-f569-4546-af36-4d43800bf4ef</vt:lpwstr>
  </property>
  <property fmtid="{D5CDD505-2E9C-101B-9397-08002B2CF9AE}" pid="3" name="MSIP_Label_e3039641-b25d-4728-8e8b-0459e2c0a6e6_ContentBits">
    <vt:lpwstr>0</vt:lpwstr>
  </property>
  <property fmtid="{D5CDD505-2E9C-101B-9397-08002B2CF9AE}" pid="4" name="MSIP_Label_e3039641-b25d-4728-8e8b-0459e2c0a6e6_Enabled">
    <vt:lpwstr>true</vt:lpwstr>
  </property>
  <property fmtid="{D5CDD505-2E9C-101B-9397-08002B2CF9AE}" pid="5" name="MSIP_Label_e3039641-b25d-4728-8e8b-0459e2c0a6e6_Method">
    <vt:lpwstr>Standard</vt:lpwstr>
  </property>
  <property fmtid="{D5CDD505-2E9C-101B-9397-08002B2CF9AE}" pid="6" name="MSIP_Label_e3039641-b25d-4728-8e8b-0459e2c0a6e6_Name">
    <vt:lpwstr>Regular</vt:lpwstr>
  </property>
  <property fmtid="{D5CDD505-2E9C-101B-9397-08002B2CF9AE}" pid="7" name="MSIP_Label_e3039641-b25d-4728-8e8b-0459e2c0a6e6_SetDate">
    <vt:lpwstr>2023-03-09T22:58:36Z</vt:lpwstr>
  </property>
  <property fmtid="{D5CDD505-2E9C-101B-9397-08002B2CF9AE}" pid="8" name="MSIP_Label_e3039641-b25d-4728-8e8b-0459e2c0a6e6_SiteId">
    <vt:lpwstr>888d5a15-2cbe-4e8b-b206-35923762a297</vt:lpwstr>
  </property>
  <property fmtid="{D5CDD505-2E9C-101B-9397-08002B2CF9AE}" pid="9" name="Notes">
    <vt:i4>62</vt:i4>
  </property>
  <property fmtid="{D5CDD505-2E9C-101B-9397-08002B2CF9AE}" pid="10" name="PresentationFormat">
    <vt:lpwstr>Panoramiczny</vt:lpwstr>
  </property>
  <property fmtid="{D5CDD505-2E9C-101B-9397-08002B2CF9AE}" pid="11" name="Slides">
    <vt:i4>62</vt:i4>
  </property>
</Properties>
</file>